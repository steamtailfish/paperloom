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notesTheme.xml" ContentType="application/vnd.openxmlformats-officedocument.theme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embeddedFontLst>
    <p:embeddedFont>
      <p:font typeface="FangSong_GB2312" panose="02010609030101010101" charset="-122"/>
      <p:regular r:id="rIdFontEmbedded1"/>
    </p:embeddedFont>
    <p:embeddedFont>
      <p:font typeface="Times New Roman" panose="02020603050405020304" charset="1"/>
      <p:regular r:id="rIdFontEmbedded2"/>
      <p:bold r:id="rIdFontEmbedded3"/>
      <p:italic r:id="rIdFontEmbedded4"/>
      <p:boldItalic r:id="rIdFontEmbedded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FontEmbedded1" Type="http://schemas.openxmlformats.org/officeDocument/2006/relationships/font" Target="fonts/font1.fntdata"/><Relationship Id="rIdFontEmbedded2" Type="http://schemas.openxmlformats.org/officeDocument/2006/relationships/font" Target="fonts/font2.fntdata"/><Relationship Id="rIdFontEmbedded3" Type="http://schemas.openxmlformats.org/officeDocument/2006/relationships/font" Target="fonts/font3.fntdata"/><Relationship Id="rIdFontEmbedded4" Type="http://schemas.openxmlformats.org/officeDocument/2006/relationships/font" Target="fonts/font4.fntdata"/><Relationship Id="rIdFontEmbedded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notes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【虚构案例声明】DemoNav、比较方法、机制参数、训练协议、数据集与所有实验数值均由 PaperLoom 为版式演示虚构，不能作为论文证据。
【机制】左侧展示访问前后区域排序变化，R1 的相关分由 0.78 降至 0.18，R2 成为首选。右侧展示 o7 与 o2 的关系边，以及两个候选对象的属性分、关系分和融合分。融合分采用 0.4×属性分+0.6×关系分并保留两位小数：o7 为 0.898≈0.90，o9 为 0.552≈0.55。停止门槛 0.80 仅为虚构参数。橙色回路代表分数不足后的再次观测。
【版式用途】总览保持五个接口，下方分别展开状态更新与对象关系。真实论文使用时应替换为可追溯的中间状态、更新规则和阈值来源，不能沿用这些虚构数值。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【虚构案例声明】DemoNav、比较方法、机制参数、训练协议、数据集与所有实验数值均由 PaperLoom 为版式演示虚构，不能作为论文证据。
【训练协议】示例从有区域/对象标签的轨迹学习共享编码器与两个预测头。蓝色边为数据流，橙色边为标注监督和参数更新，虚线为训练参数传递到部署。预测头同时接收联合特征，真实论文应补充具体监督目标及梯度是否回传编码器。
【部署协议】部署冻结参数，移除标签与监督更新，仅使用当前观测、目标和旧记忆。图中示例着重呈现对象置信门控；没有找到候选对象时，完整示例沿用第 1 页的区域探索分支。0.80 阈值、编码次数与训练设计均为虚构，不对应真实论文。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【虚构案例声明】DemoNav、比较方法、机制参数、训练协议、数据集与所有实验数值均由 PaperLoom 为版式演示虚构，不能作为论文证据。
【虚构主表】列为方法、SR (%)、SPL (%)、端到端延迟 (ms)、峰值内存 (MB)。Direct policy: 62.0,48.6,18.0,210。Region only: 67.5,52.1,21.4,252。Object only: 69.0,54.7,24.8,290。DemoNav: 75.0,59.6,29.3,348。三随机种子均值，每种子一百回合，同划分、同输入、同单卡，批量1。这里只提供布局所需均值，没有方差，不能据此宣称统计显著。
【虚构消融】完整模型 SR 75.0/误停2.5，去关系边71.2/4.1，去回访72.4/3.9，去置信门控76.1/8.4。误停率指停止时对象不符合目标的回合比例，以全部评估回合为分母。SR 定义为预算内进入目标邻域的回合比例，不要求停止判断正确，因此 SR 与误停率并非互补。所有配置使用相同训练和评估协议，只改变所列组件。
【算术】75.0−69.0=6.0 pp；29.3−24.8=4.5 ms；76.1−75.0=1.1 pp；8.4−2.5=5.9 pp。低光子集数据 51.0% vs 54.0% 为独立虚构子集结果。
【真实替换】必须记录原论文表号、页码、评估划分、硬件、指标定义、计时范围与不利结果，保留不确定性。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46888"/>
            <a:ext cx="11402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双尺度记忆：区域选择与对象核验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93192" y="795528"/>
            <a:ext cx="11402568" cy="0"/>
          </a:xfrm>
          <a:prstGeom prst="line">
            <a:avLst/>
          </a:prstGeom>
          <a:noFill/>
          <a:ln w="19050">
            <a:solidFill>
              <a:srgbClr val="1535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877824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虚构教学案例：</a:t>
            </a:r>
            <a:r>
              <a:rPr lang="en-US" sz="150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 </a:t>
            </a: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的机制、协议与数值均为示例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" y="6510528"/>
            <a:ext cx="11402568" cy="0"/>
          </a:xfrm>
          <a:prstGeom prst="line">
            <a:avLst/>
          </a:prstGeom>
          <a:noFill/>
          <a:ln w="8890">
            <a:solidFill>
              <a:srgbClr val="CCD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0816" y="661111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/ 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2336" y="1344168"/>
            <a:ext cx="1810512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26464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输入</a:t>
            </a:r>
            <a:endParaRPr lang="en-US" sz="1830" dirty="0"/>
          </a:p>
        </p:txBody>
      </p:sp>
      <p:sp>
        <p:nvSpPr>
          <p:cNvPr id="9" name="Text 7"/>
          <p:cNvSpPr/>
          <p:nvPr/>
        </p:nvSpPr>
        <p:spPr>
          <a:xfrm>
            <a:off x="493776" y="173736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图像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目标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44852" y="1783080"/>
            <a:ext cx="365760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42616" y="1344168"/>
            <a:ext cx="1810512" cy="877824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1426464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区域记忆</a:t>
            </a:r>
            <a:endParaRPr lang="en-US" sz="1830" dirty="0"/>
          </a:p>
        </p:txBody>
      </p:sp>
      <p:sp>
        <p:nvSpPr>
          <p:cNvPr id="13" name="Text 11"/>
          <p:cNvSpPr/>
          <p:nvPr/>
        </p:nvSpPr>
        <p:spPr>
          <a:xfrm>
            <a:off x="2734056" y="173736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候选区域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r_t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85132" y="1783080"/>
            <a:ext cx="374904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92040" y="1344168"/>
            <a:ext cx="1810512" cy="877824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426464"/>
            <a:ext cx="16276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对象记忆</a:t>
            </a:r>
            <a:endParaRPr lang="en-US" sz="1830" dirty="0"/>
          </a:p>
        </p:txBody>
      </p:sp>
      <p:sp>
        <p:nvSpPr>
          <p:cNvPr id="17" name="Text 15"/>
          <p:cNvSpPr/>
          <p:nvPr/>
        </p:nvSpPr>
        <p:spPr>
          <a:xfrm>
            <a:off x="4983480" y="1737360"/>
            <a:ext cx="1627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对象与关系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G_t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734556" y="1783080"/>
            <a:ext cx="374904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41464" y="1344168"/>
            <a:ext cx="1938528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2904" y="1426464"/>
            <a:ext cx="1755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置信门控</a:t>
            </a:r>
            <a:endParaRPr lang="en-US" sz="1830" dirty="0"/>
          </a:p>
        </p:txBody>
      </p:sp>
      <p:sp>
        <p:nvSpPr>
          <p:cNvPr id="21" name="Text 19"/>
          <p:cNvSpPr/>
          <p:nvPr/>
        </p:nvSpPr>
        <p:spPr>
          <a:xfrm>
            <a:off x="7232904" y="1737360"/>
            <a:ext cx="17556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融合分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≥ 0.80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11996" y="1783080"/>
            <a:ext cx="365760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1344168"/>
            <a:ext cx="2276856" cy="87782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1426464"/>
            <a:ext cx="20939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动作输出</a:t>
            </a:r>
            <a:endParaRPr lang="en-US" sz="1830" dirty="0"/>
          </a:p>
        </p:txBody>
      </p:sp>
      <p:sp>
        <p:nvSpPr>
          <p:cNvPr id="25" name="Text 23"/>
          <p:cNvSpPr/>
          <p:nvPr/>
        </p:nvSpPr>
        <p:spPr>
          <a:xfrm>
            <a:off x="9601200" y="1737360"/>
            <a:ext cx="20939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探索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观察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停止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02336" y="2496312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 </a:t>
            </a:r>
            <a:r>
              <a:rPr lang="en-US" sz="21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区域记忆：观测后更新候选顺序</a:t>
            </a:r>
            <a:endParaRPr lang="en-US" sz="2150" dirty="0"/>
          </a:p>
        </p:txBody>
      </p:sp>
      <p:sp>
        <p:nvSpPr>
          <p:cNvPr id="27" name="Shape 25"/>
          <p:cNvSpPr/>
          <p:nvPr/>
        </p:nvSpPr>
        <p:spPr>
          <a:xfrm>
            <a:off x="402336" y="2907792"/>
            <a:ext cx="5504688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496312"/>
            <a:ext cx="5504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  </a:t>
            </a:r>
            <a:r>
              <a:rPr lang="en-US" sz="21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对象记忆：属性与关系共同核验</a:t>
            </a:r>
            <a:endParaRPr lang="en-US" sz="2150" dirty="0"/>
          </a:p>
        </p:txBody>
      </p:sp>
      <p:sp>
        <p:nvSpPr>
          <p:cNvPr id="29" name="Shape 27"/>
          <p:cNvSpPr/>
          <p:nvPr/>
        </p:nvSpPr>
        <p:spPr>
          <a:xfrm>
            <a:off x="6281928" y="2907792"/>
            <a:ext cx="5504688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136392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更新前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353312" y="3035808"/>
            <a:ext cx="1463040" cy="804672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44752" y="3118104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R1</a:t>
            </a:r>
            <a:endParaRPr lang="en-US" sz="1830" dirty="0"/>
          </a:p>
        </p:txBody>
      </p:sp>
      <p:sp>
        <p:nvSpPr>
          <p:cNvPr id="33" name="Text 31"/>
          <p:cNvSpPr/>
          <p:nvPr/>
        </p:nvSpPr>
        <p:spPr>
          <a:xfrm>
            <a:off x="1444752" y="3429000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0.78 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未访问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2889504" y="3035808"/>
            <a:ext cx="1463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80944" y="3118104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R2</a:t>
            </a:r>
            <a:endParaRPr lang="en-US" sz="1830" dirty="0"/>
          </a:p>
        </p:txBody>
      </p:sp>
      <p:sp>
        <p:nvSpPr>
          <p:cNvPr id="36" name="Text 34"/>
          <p:cNvSpPr/>
          <p:nvPr/>
        </p:nvSpPr>
        <p:spPr>
          <a:xfrm>
            <a:off x="2980944" y="3429000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0.52 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未覆盖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4425696" y="3035808"/>
            <a:ext cx="1463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17136" y="3118104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R3</a:t>
            </a:r>
            <a:endParaRPr lang="en-US" sz="1830" dirty="0"/>
          </a:p>
        </p:txBody>
      </p:sp>
      <p:sp>
        <p:nvSpPr>
          <p:cNvPr id="39" name="Text 37"/>
          <p:cNvSpPr/>
          <p:nvPr/>
        </p:nvSpPr>
        <p:spPr>
          <a:xfrm>
            <a:off x="4517136" y="3429000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0.34 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未覆盖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353312" y="3986784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新观测：</a:t>
            </a:r>
            <a:r>
              <a:rPr lang="en-US" sz="1800" dirty="0">
                <a:solidFill>
                  <a:srgbClr val="B666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R1 </a:t>
            </a:r>
            <a:r>
              <a:rPr lang="en-US" sz="180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已查，无匹配对象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2084832" y="3840480"/>
            <a:ext cx="0" cy="128016"/>
          </a:xfrm>
          <a:prstGeom prst="line">
            <a:avLst/>
          </a:prstGeom>
          <a:noFill/>
          <a:ln w="17780">
            <a:solidFill>
              <a:srgbClr val="B6662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084832" y="4297680"/>
            <a:ext cx="0" cy="164592"/>
          </a:xfrm>
          <a:prstGeom prst="line">
            <a:avLst/>
          </a:prstGeom>
          <a:noFill/>
          <a:ln w="17780">
            <a:solidFill>
              <a:srgbClr val="B66624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411480" y="4599432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更新后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1353312" y="4480560"/>
            <a:ext cx="1463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4752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R1</a:t>
            </a:r>
            <a:endParaRPr lang="en-US" sz="1830" dirty="0"/>
          </a:p>
        </p:txBody>
      </p:sp>
      <p:sp>
        <p:nvSpPr>
          <p:cNvPr id="46" name="Text 44"/>
          <p:cNvSpPr/>
          <p:nvPr/>
        </p:nvSpPr>
        <p:spPr>
          <a:xfrm>
            <a:off x="1444752" y="487375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0.18 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已检查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2889504" y="4480560"/>
            <a:ext cx="1463040" cy="804672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80944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R2</a:t>
            </a:r>
            <a:endParaRPr lang="en-US" sz="1830" dirty="0"/>
          </a:p>
        </p:txBody>
      </p:sp>
      <p:sp>
        <p:nvSpPr>
          <p:cNvPr id="49" name="Text 47"/>
          <p:cNvSpPr/>
          <p:nvPr/>
        </p:nvSpPr>
        <p:spPr>
          <a:xfrm>
            <a:off x="2980944" y="487375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0.52 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首选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4425696" y="4480560"/>
            <a:ext cx="14630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17136" y="456285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R3</a:t>
            </a:r>
            <a:endParaRPr lang="en-US" sz="1830" dirty="0"/>
          </a:p>
        </p:txBody>
      </p:sp>
      <p:sp>
        <p:nvSpPr>
          <p:cNvPr id="52" name="Text 50"/>
          <p:cNvSpPr/>
          <p:nvPr/>
        </p:nvSpPr>
        <p:spPr>
          <a:xfrm>
            <a:off x="4517136" y="4873752"/>
            <a:ext cx="1280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0.34 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保留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411480" y="5486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访问后降权，未覆盖候选保留；下一步选择 </a:t>
            </a:r>
            <a:r>
              <a:rPr lang="en-US" sz="1800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R2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291072" y="30266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目标 </a:t>
            </a:r>
            <a:r>
              <a:rPr lang="en-US" sz="18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r>
              <a:rPr lang="en-US" sz="18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：红椅，位于桌旁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419088" y="3529584"/>
            <a:ext cx="1682496" cy="768096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3611880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椅子 </a:t>
            </a: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o7</a:t>
            </a:r>
            <a:endParaRPr lang="en-US" sz="1830" dirty="0"/>
          </a:p>
        </p:txBody>
      </p:sp>
      <p:sp>
        <p:nvSpPr>
          <p:cNvPr id="57" name="Text 55"/>
          <p:cNvSpPr/>
          <p:nvPr/>
        </p:nvSpPr>
        <p:spPr>
          <a:xfrm>
            <a:off x="6510528" y="3922776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红色置信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0.88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9592056" y="3529584"/>
            <a:ext cx="1700784" cy="768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83496" y="3611880"/>
            <a:ext cx="15179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桌子 </a:t>
            </a: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o2</a:t>
            </a:r>
            <a:endParaRPr lang="en-US" sz="1830" dirty="0"/>
          </a:p>
        </p:txBody>
      </p:sp>
      <p:sp>
        <p:nvSpPr>
          <p:cNvPr id="60" name="Text 58"/>
          <p:cNvSpPr/>
          <p:nvPr/>
        </p:nvSpPr>
        <p:spPr>
          <a:xfrm>
            <a:off x="9683496" y="392277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稳定检测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0.94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8174736" y="3529584"/>
            <a:ext cx="13167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45F9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旁边 </a:t>
            </a:r>
            <a:r>
              <a:rPr lang="en-US" sz="1650" dirty="0">
                <a:solidFill>
                  <a:srgbClr val="245F9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0.91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8119872" y="3922776"/>
            <a:ext cx="1444752" cy="0"/>
          </a:xfrm>
          <a:prstGeom prst="line">
            <a:avLst/>
          </a:prstGeom>
          <a:noFill/>
          <a:ln w="19050">
            <a:solidFill>
              <a:srgbClr val="245F9F"/>
            </a:solidFill>
            <a:prstDash val="solid"/>
            <a:tailEnd type="triangle"/>
          </a:ln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0216" y="4562856"/>
          <a:ext cx="4983480" cy="1097280"/>
        </p:xfrm>
        <a:graphic>
          <a:graphicData uri="http://schemas.openxmlformats.org/drawingml/2006/table">
            <a:tbl>
              <a:tblPr/>
              <a:tblGrid>
                <a:gridCol w="1078992"/>
                <a:gridCol w="1389888"/>
                <a:gridCol w="1380744"/>
                <a:gridCol w="1133856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候选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属性分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关系分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融合分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o7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0.88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0.91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o9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0.93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0.55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 61"/>
          <p:cNvSpPr/>
          <p:nvPr/>
        </p:nvSpPr>
        <p:spPr>
          <a:xfrm>
            <a:off x="6300216" y="5769864"/>
            <a:ext cx="5477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B666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&lt; 0.80 </a:t>
            </a:r>
            <a:r>
              <a:rPr lang="en-US" sz="175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时补充观察，再更新对象关系</a:t>
            </a:r>
            <a:endParaRPr lang="en-US" sz="1750" dirty="0"/>
          </a:p>
        </p:txBody>
      </p:sp>
      <p:sp>
        <p:nvSpPr>
          <p:cNvPr id="65" name="Shape 62"/>
          <p:cNvSpPr/>
          <p:nvPr/>
        </p:nvSpPr>
        <p:spPr>
          <a:xfrm>
            <a:off x="11512296" y="5605272"/>
            <a:ext cx="146304" cy="0"/>
          </a:xfrm>
          <a:prstGeom prst="line">
            <a:avLst/>
          </a:prstGeom>
          <a:noFill/>
          <a:ln w="15875">
            <a:solidFill>
              <a:srgbClr val="B6662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 flipV="1">
            <a:off x="11658600" y="3282696"/>
            <a:ext cx="0" cy="2322576"/>
          </a:xfrm>
          <a:prstGeom prst="line">
            <a:avLst/>
          </a:prstGeom>
          <a:noFill/>
          <a:ln w="15875">
            <a:solidFill>
              <a:srgbClr val="B6662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flipH="1">
            <a:off x="10469880" y="3282696"/>
            <a:ext cx="1188720" cy="0"/>
          </a:xfrm>
          <a:prstGeom prst="line">
            <a:avLst/>
          </a:prstGeom>
          <a:noFill/>
          <a:ln w="15875">
            <a:solidFill>
              <a:srgbClr val="B66624"/>
            </a:solidFill>
            <a:prstDash val="solid"/>
            <a:tailEnd type="triangle"/>
          </a:ln>
        </p:spPr>
      </p:sp>
      <p:sp>
        <p:nvSpPr>
          <p:cNvPr id="68" name="Text 65"/>
          <p:cNvSpPr/>
          <p:nvPr/>
        </p:nvSpPr>
        <p:spPr>
          <a:xfrm>
            <a:off x="411480" y="6135624"/>
            <a:ext cx="113568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区域分数决定先去哪里，对象分数决定是否停止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46888"/>
            <a:ext cx="11402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训练与部署：共享编码器与独立监督路径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93192" y="795528"/>
            <a:ext cx="11402568" cy="0"/>
          </a:xfrm>
          <a:prstGeom prst="line">
            <a:avLst/>
          </a:prstGeom>
          <a:noFill/>
          <a:ln w="19050">
            <a:solidFill>
              <a:srgbClr val="1535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877824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虚构教学案例：</a:t>
            </a:r>
            <a:r>
              <a:rPr lang="en-US" sz="150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 </a:t>
            </a: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的机制、协议与数值均为示例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" y="6510528"/>
            <a:ext cx="11402568" cy="0"/>
          </a:xfrm>
          <a:prstGeom prst="line">
            <a:avLst/>
          </a:prstGeom>
          <a:noFill/>
          <a:ln w="8890">
            <a:solidFill>
              <a:srgbClr val="CCD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0816" y="661111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11096" y="1307592"/>
            <a:ext cx="1865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输入与状态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224528" y="1307592"/>
            <a:ext cx="1865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共享表征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47104" y="1307592"/>
            <a:ext cx="1865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预测与记忆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208008" y="1307592"/>
            <a:ext cx="2569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监督或动作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02336" y="1737360"/>
            <a:ext cx="11384280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084832"/>
            <a:ext cx="11795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45F9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离线</a:t>
            </a:r>
            <a:endParaRPr lang="en-US" sz="2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45F9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训练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29768" y="3026664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有标注轨迹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911096" y="2029968"/>
            <a:ext cx="1865376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2112264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轨迹样本</a:t>
            </a:r>
            <a:endParaRPr lang="en-US" sz="1830" dirty="0"/>
          </a:p>
        </p:txBody>
      </p:sp>
      <p:sp>
        <p:nvSpPr>
          <p:cNvPr id="16" name="Text 14"/>
          <p:cNvSpPr/>
          <p:nvPr/>
        </p:nvSpPr>
        <p:spPr>
          <a:xfrm>
            <a:off x="2002536" y="242316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图像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I_t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目标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24528" y="2029968"/>
            <a:ext cx="1865376" cy="1051560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2112264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编码器 </a:t>
            </a: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830" dirty="0"/>
          </a:p>
        </p:txBody>
      </p:sp>
      <p:sp>
        <p:nvSpPr>
          <p:cNvPr id="19" name="Text 17"/>
          <p:cNvSpPr/>
          <p:nvPr/>
        </p:nvSpPr>
        <p:spPr>
          <a:xfrm>
            <a:off x="4315968" y="2423160"/>
            <a:ext cx="1682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图像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目标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联合特征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47104" y="2029968"/>
            <a:ext cx="1984248" cy="1051560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38544" y="2112264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两个预测头</a:t>
            </a:r>
            <a:endParaRPr lang="en-US" sz="1830" dirty="0"/>
          </a:p>
        </p:txBody>
      </p:sp>
      <p:sp>
        <p:nvSpPr>
          <p:cNvPr id="22" name="Text 20"/>
          <p:cNvSpPr/>
          <p:nvPr/>
        </p:nvSpPr>
        <p:spPr>
          <a:xfrm>
            <a:off x="6638544" y="2423160"/>
            <a:ext cx="1801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区域预测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对象预测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208008" y="2029968"/>
            <a:ext cx="2569464" cy="1051560"/>
          </a:xfrm>
          <a:prstGeom prst="rect">
            <a:avLst/>
          </a:prstGeom>
          <a:solidFill>
            <a:srgbClr val="FAF1E7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99448" y="2112264"/>
            <a:ext cx="2386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轨迹标注</a:t>
            </a:r>
            <a:endParaRPr lang="en-US" sz="1830" dirty="0"/>
          </a:p>
        </p:txBody>
      </p:sp>
      <p:sp>
        <p:nvSpPr>
          <p:cNvPr id="25" name="Text 23"/>
          <p:cNvSpPr/>
          <p:nvPr/>
        </p:nvSpPr>
        <p:spPr>
          <a:xfrm>
            <a:off x="9299448" y="2423160"/>
            <a:ext cx="2386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区域标签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r*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对象标签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o*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803904" y="2560320"/>
            <a:ext cx="365760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126480" y="2560320"/>
            <a:ext cx="365760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8586216" y="2560320"/>
            <a:ext cx="576072" cy="0"/>
          </a:xfrm>
          <a:prstGeom prst="line">
            <a:avLst/>
          </a:prstGeom>
          <a:noFill/>
          <a:ln w="20320">
            <a:solidFill>
              <a:srgbClr val="B6662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622792" y="2112264"/>
            <a:ext cx="512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监督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543800" y="3118104"/>
            <a:ext cx="0" cy="356616"/>
          </a:xfrm>
          <a:prstGeom prst="line">
            <a:avLst/>
          </a:prstGeom>
          <a:noFill/>
          <a:ln w="17780">
            <a:solidFill>
              <a:srgbClr val="B666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5148072" y="3474720"/>
            <a:ext cx="2395728" cy="0"/>
          </a:xfrm>
          <a:prstGeom prst="line">
            <a:avLst/>
          </a:prstGeom>
          <a:noFill/>
          <a:ln w="17780">
            <a:solidFill>
              <a:srgbClr val="B666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148072" y="3127248"/>
            <a:ext cx="0" cy="347472"/>
          </a:xfrm>
          <a:prstGeom prst="line">
            <a:avLst/>
          </a:prstGeom>
          <a:noFill/>
          <a:ln w="17780">
            <a:solidFill>
              <a:srgbClr val="B66624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596128" y="318211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监督误差更新参数 </a:t>
            </a:r>
            <a:r>
              <a:rPr lang="en-US" sz="1650" dirty="0">
                <a:solidFill>
                  <a:srgbClr val="B666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402336" y="3767328"/>
            <a:ext cx="11384280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288536"/>
            <a:ext cx="117957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45F9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在线</a:t>
            </a:r>
            <a:endParaRPr lang="en-US" sz="2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45F9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推理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429768" y="5239512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无标签输入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911096" y="4261104"/>
            <a:ext cx="1865376" cy="1088136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02536" y="4343400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当前观测</a:t>
            </a:r>
            <a:endParaRPr lang="en-US" sz="1830" dirty="0"/>
          </a:p>
        </p:txBody>
      </p:sp>
      <p:sp>
        <p:nvSpPr>
          <p:cNvPr id="39" name="Text 37"/>
          <p:cNvSpPr/>
          <p:nvPr/>
        </p:nvSpPr>
        <p:spPr>
          <a:xfrm>
            <a:off x="2002536" y="4654296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当前图像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目标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旧记忆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4224528" y="4261104"/>
            <a:ext cx="1865376" cy="1088136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15968" y="4343400"/>
            <a:ext cx="16824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编码器 </a:t>
            </a:r>
            <a:r>
              <a:rPr lang="en-US" sz="1830" b="1" dirty="0">
                <a:solidFill>
                  <a:srgbClr val="15355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endParaRPr lang="en-US" sz="1830" dirty="0"/>
          </a:p>
        </p:txBody>
      </p:sp>
      <p:sp>
        <p:nvSpPr>
          <p:cNvPr id="42" name="Text 40"/>
          <p:cNvSpPr/>
          <p:nvPr/>
        </p:nvSpPr>
        <p:spPr>
          <a:xfrm>
            <a:off x="4315968" y="4654296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固定训练参数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每帧一次编码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6547104" y="4261104"/>
            <a:ext cx="1984248" cy="1088136"/>
          </a:xfrm>
          <a:prstGeom prst="rect">
            <a:avLst/>
          </a:prstGeom>
          <a:solidFill>
            <a:srgbClr val="EAF2F8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4343400"/>
            <a:ext cx="18013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记忆更新</a:t>
            </a:r>
            <a:endParaRPr lang="en-US" sz="1830" dirty="0"/>
          </a:p>
        </p:txBody>
      </p:sp>
      <p:sp>
        <p:nvSpPr>
          <p:cNvPr id="45" name="Text 43"/>
          <p:cNvSpPr/>
          <p:nvPr/>
        </p:nvSpPr>
        <p:spPr>
          <a:xfrm>
            <a:off x="6638544" y="4654296"/>
            <a:ext cx="1801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重排区域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r_t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核验对象 </a:t>
            </a: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G_t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208008" y="4261104"/>
            <a:ext cx="2569464" cy="1088136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9448" y="4343400"/>
            <a:ext cx="2386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3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门控动作</a:t>
            </a:r>
            <a:endParaRPr lang="en-US" sz="1830" dirty="0"/>
          </a:p>
        </p:txBody>
      </p:sp>
      <p:sp>
        <p:nvSpPr>
          <p:cNvPr id="48" name="Text 46"/>
          <p:cNvSpPr/>
          <p:nvPr/>
        </p:nvSpPr>
        <p:spPr>
          <a:xfrm>
            <a:off x="9299448" y="4654296"/>
            <a:ext cx="2386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≥ 0.80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：停止</a:t>
            </a:r>
            <a:endParaRPr lang="en-US" sz="1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 &lt; 0.80</a:t>
            </a:r>
            <a:r>
              <a:rPr lang="en-US" sz="170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：观察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3803904" y="4800600"/>
            <a:ext cx="365760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126480" y="4800600"/>
            <a:ext cx="365760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577072" y="4800600"/>
            <a:ext cx="576072" cy="0"/>
          </a:xfrm>
          <a:prstGeom prst="line">
            <a:avLst/>
          </a:prstGeom>
          <a:noFill/>
          <a:ln w="2032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71416" y="3127248"/>
            <a:ext cx="0" cy="1078992"/>
          </a:xfrm>
          <a:prstGeom prst="line">
            <a:avLst/>
          </a:prstGeom>
          <a:noFill/>
          <a:ln w="12700">
            <a:solidFill>
              <a:srgbClr val="5E7181"/>
            </a:solidFill>
            <a:prstDash val="dash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608576" y="387705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固化参数</a:t>
            </a:r>
            <a:endParaRPr lang="en-US" sz="1550" dirty="0"/>
          </a:p>
        </p:txBody>
      </p:sp>
      <p:sp>
        <p:nvSpPr>
          <p:cNvPr id="54" name="Shape 52"/>
          <p:cNvSpPr/>
          <p:nvPr/>
        </p:nvSpPr>
        <p:spPr>
          <a:xfrm>
            <a:off x="10497312" y="5385816"/>
            <a:ext cx="0" cy="438912"/>
          </a:xfrm>
          <a:prstGeom prst="line">
            <a:avLst/>
          </a:prstGeom>
          <a:noFill/>
          <a:ln w="17780">
            <a:solidFill>
              <a:srgbClr val="245F9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2843784" y="5824728"/>
            <a:ext cx="7653528" cy="0"/>
          </a:xfrm>
          <a:prstGeom prst="line">
            <a:avLst/>
          </a:prstGeom>
          <a:noFill/>
          <a:ln w="17780">
            <a:solidFill>
              <a:srgbClr val="245F9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2843784" y="5394960"/>
            <a:ext cx="0" cy="429768"/>
          </a:xfrm>
          <a:prstGeom prst="line">
            <a:avLst/>
          </a:prstGeom>
          <a:noFill/>
          <a:ln w="17780">
            <a:solidFill>
              <a:srgbClr val="245F9F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4050792" y="5522976"/>
            <a:ext cx="59161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245F9F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观察动作改变视角，新观测更新记忆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411480" y="6144768"/>
            <a:ext cx="113477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部署保留编码、记忆与门控；移除标注输入和参数更新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46888"/>
            <a:ext cx="11402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同协议实验：收益、模块贡献与代价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93192" y="795528"/>
            <a:ext cx="11402568" cy="0"/>
          </a:xfrm>
          <a:prstGeom prst="line">
            <a:avLst/>
          </a:prstGeom>
          <a:noFill/>
          <a:ln w="19050">
            <a:solidFill>
              <a:srgbClr val="1535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877824"/>
            <a:ext cx="11384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虚构教学案例：</a:t>
            </a:r>
            <a:r>
              <a:rPr lang="en-US" sz="150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DemoNav </a:t>
            </a:r>
            <a:r>
              <a:rPr lang="en-US" sz="15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的机制、协议与数值均为示例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3192" y="6510528"/>
            <a:ext cx="11402568" cy="0"/>
          </a:xfrm>
          <a:prstGeom prst="line">
            <a:avLst/>
          </a:prstGeom>
          <a:noFill/>
          <a:ln w="8890">
            <a:solidFill>
              <a:srgbClr val="CCD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00816" y="6611112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11356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比较条件：同划分、同输入、同单卡；每种子 </a:t>
            </a:r>
            <a:r>
              <a:rPr lang="en-US" sz="175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</a:t>
            </a:r>
            <a:r>
              <a:rPr lang="en-US" sz="175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回合，报告 </a:t>
            </a:r>
            <a:r>
              <a:rPr lang="en-US" sz="175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</a:t>
            </a:r>
            <a:r>
              <a:rPr lang="en-US" sz="175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个种子的均值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02336" y="1773936"/>
            <a:ext cx="6803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主结果：完整模型同时增加效果与开销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402336" y="2185416"/>
            <a:ext cx="6803136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2944" y="1773936"/>
            <a:ext cx="4233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消融：成功率与误停共同解释</a:t>
            </a:r>
            <a:endParaRPr lang="en-US" sz="2150" dirty="0"/>
          </a:p>
        </p:txBody>
      </p:sp>
      <p:sp>
        <p:nvSpPr>
          <p:cNvPr id="11" name="Shape 9"/>
          <p:cNvSpPr/>
          <p:nvPr/>
        </p:nvSpPr>
        <p:spPr>
          <a:xfrm>
            <a:off x="7552944" y="2185416"/>
            <a:ext cx="4233672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" y="2340864"/>
          <a:ext cx="6803136" cy="2103120"/>
        </p:xfrm>
        <a:graphic>
          <a:graphicData uri="http://schemas.openxmlformats.org/drawingml/2006/table">
            <a:tbl>
              <a:tblPr/>
              <a:tblGrid>
                <a:gridCol w="1975104"/>
                <a:gridCol w="1115568"/>
                <a:gridCol w="1225296"/>
                <a:gridCol w="1261872"/>
                <a:gridCol w="122529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方法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 (%)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SPL (%)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延迟</a:t>
                      </a: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(ms)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内存</a:t>
                      </a: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(MB)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Direct policy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62.0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48.6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Region only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67.5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52.1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21.4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252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Object only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69.0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54.7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24.8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DemoNav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75.0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59.6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29.3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348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52944" y="2340864"/>
          <a:ext cx="4233672" cy="2103120"/>
        </p:xfrm>
        <a:graphic>
          <a:graphicData uri="http://schemas.openxmlformats.org/drawingml/2006/table">
            <a:tbl>
              <a:tblPr/>
              <a:tblGrid>
                <a:gridCol w="1920240"/>
                <a:gridCol w="1133856"/>
                <a:gridCol w="1179576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配置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SR (%)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误停</a:t>
                      </a:r>
                      <a:r>
                        <a:rPr lang="en-US" sz="17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(%)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55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完整模型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75.0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b="1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2.5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去关系边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71.2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4.1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去回访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72.4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3.9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FangSong_GB2312" pitchFamily="34" charset="0"/>
                          <a:ea typeface="FangSong_GB2312" pitchFamily="34" charset="-122"/>
                          <a:cs typeface="FangSong_GB2312" pitchFamily="34" charset="-120"/>
                        </a:rPr>
                        <a:t>去置信门控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76.1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50" dirty="0">
                          <a:solidFill>
                            <a:srgbClr val="263D5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8.4</a:t>
                      </a:r>
                      <a:endParaRPr lang="en-US" sz="17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82296" marR="68580" marT="41148" marB="41148" anchor="ctr">
                    <a:lnL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11480" y="4562856"/>
            <a:ext cx="6775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</a:t>
            </a: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：到达率</a:t>
            </a:r>
            <a:r>
              <a:rPr lang="en-US" sz="15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↑</a:t>
            </a: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；</a:t>
            </a:r>
            <a:r>
              <a:rPr lang="en-US" sz="15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</a:t>
            </a: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：路径加权到达率</a:t>
            </a:r>
            <a:r>
              <a:rPr lang="en-US" sz="15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↑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11480" y="4928616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45F9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+6.0 pp SR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3648456" y="492861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B666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+4.5 ms </a:t>
            </a:r>
            <a:r>
              <a:rPr lang="en-US" sz="2300" b="1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延迟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411480" y="538581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两项均相对 </a:t>
            </a:r>
            <a:r>
              <a:rPr lang="en-US" sz="160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 only</a:t>
            </a:r>
            <a:r>
              <a:rPr lang="en-US" sz="16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；</a:t>
            </a:r>
            <a:r>
              <a:rPr lang="en-US" sz="160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pp </a:t>
            </a:r>
            <a:r>
              <a:rPr lang="en-US" sz="160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表示百分点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562088" y="4562856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误停率</a:t>
            </a:r>
            <a:r>
              <a:rPr lang="en-US" sz="15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：停错回合 </a:t>
            </a:r>
            <a:r>
              <a:rPr lang="en-US" sz="1550" dirty="0">
                <a:solidFill>
                  <a:srgbClr val="5E71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</a:t>
            </a:r>
            <a:r>
              <a:rPr lang="en-US" sz="1550" dirty="0">
                <a:solidFill>
                  <a:srgbClr val="5E7181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全部回合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7562088" y="4928616"/>
            <a:ext cx="4197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去门控：到达率 </a:t>
            </a:r>
            <a:r>
              <a:rPr lang="en-US" sz="1820" dirty="0">
                <a:solidFill>
                  <a:srgbClr val="B666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+1.1 pp</a:t>
            </a:r>
            <a:endParaRPr lang="en-US" sz="1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误停率 </a:t>
            </a:r>
            <a:r>
              <a:rPr lang="en-US" sz="1820" dirty="0">
                <a:solidFill>
                  <a:srgbClr val="B6662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+5.9 pp</a:t>
            </a:r>
            <a:endParaRPr lang="en-US" sz="1820" dirty="0"/>
          </a:p>
        </p:txBody>
      </p:sp>
      <p:sp>
        <p:nvSpPr>
          <p:cNvPr id="20" name="Shape 16"/>
          <p:cNvSpPr/>
          <p:nvPr/>
        </p:nvSpPr>
        <p:spPr>
          <a:xfrm>
            <a:off x="402336" y="5733288"/>
            <a:ext cx="11384280" cy="0"/>
          </a:xfrm>
          <a:prstGeom prst="line">
            <a:avLst/>
          </a:prstGeom>
          <a:noFill/>
          <a:ln w="10160">
            <a:solidFill>
              <a:srgbClr val="CCD6D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5870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153556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条件边界</a:t>
            </a:r>
            <a:endParaRPr lang="en-US" sz="1950" dirty="0"/>
          </a:p>
        </p:txBody>
      </p:sp>
      <p:sp>
        <p:nvSpPr>
          <p:cNvPr id="22" name="Text 18"/>
          <p:cNvSpPr/>
          <p:nvPr/>
        </p:nvSpPr>
        <p:spPr>
          <a:xfrm>
            <a:off x="1810512" y="5852160"/>
            <a:ext cx="51114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静态室内；动态遮挡待验证</a:t>
            </a:r>
            <a:endParaRPr lang="en-US" sz="17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端到端延迟，批量 </a:t>
            </a:r>
            <a:r>
              <a:rPr lang="en-US" sz="173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730" dirty="0"/>
          </a:p>
        </p:txBody>
      </p:sp>
      <p:sp>
        <p:nvSpPr>
          <p:cNvPr id="23" name="Text 19"/>
          <p:cNvSpPr/>
          <p:nvPr/>
        </p:nvSpPr>
        <p:spPr>
          <a:xfrm>
            <a:off x="7562088" y="587044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B66624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不利结果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8979408" y="5852160"/>
            <a:ext cx="28072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低光：</a:t>
            </a:r>
            <a:r>
              <a:rPr lang="en-US" sz="173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51% &lt; 54%</a:t>
            </a:r>
            <a:endParaRPr lang="en-US" sz="17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30" dirty="0">
                <a:solidFill>
                  <a:srgbClr val="263D50"/>
                </a:solidFill>
                <a:latin typeface="FangSong_GB2312" pitchFamily="34" charset="0"/>
                <a:ea typeface="FangSong_GB2312" pitchFamily="34" charset="-122"/>
                <a:cs typeface="FangSong_GB2312" pitchFamily="34" charset="-120"/>
              </a:rPr>
              <a:t>基线：</a:t>
            </a:r>
            <a:r>
              <a:rPr lang="en-US" sz="1730" dirty="0">
                <a:solidFill>
                  <a:srgbClr val="263D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 only</a:t>
            </a:r>
            <a:endParaRPr lang="en-US" sz="1730" dirty="0"/>
          </a:p>
        </p:txBody>
      </p:sp>
    </p:spTree>
  </p:cSld>
  <p:clrMapOvr>
    <a:masterClrMapping/>
  </p:clrMapOvr>
</p:sld>
</file>

<file path=ppt/theme/notes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angSong_GB231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angSong_GB2312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angSong_GB231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angSong_GB2312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PaperLoom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PaperLoom — 紧凑证据组织示例</dc:title>
  <dc:subject>Three editable research evidence compositions. DemoNav and all data are fictional.</dc:subject>
  <dc:creator>PaperLoom</dc:creator>
  <cp:lastModifiedBy>PaperLoom</cp:lastModifiedBy>
  <cp:revision>1</cp:revision>
  <dcterms:created xsi:type="dcterms:W3CDTF">2026-09-13T06:32:58Z</dcterms:created>
  <dcterms:modified xsi:type="dcterms:W3CDTF">2026-09-13T06:32:58Z</dcterms:modified>
</cp:coreProperties>
</file>