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notes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SR (%)</c:v>
                </c:pt>
              </c:strCache>
            </c:strRef>
          </c:tx>
          <c:spPr>
            <a:solidFill>
              <a:srgbClr val="245C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700" u="none">
                    <a:solidFill>
                      <a:srgbClr val="142B4A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</c:v>
                  </c:pt>
                  <c:pt idx="1">
                    <c:v>+ Global</c:v>
                  </c:pt>
                  <c:pt idx="2">
                    <c:v>+ Local</c:v>
                  </c:pt>
                  <c:pt idx="3">
                    <c:v>Full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41.2</c:v>
                </c:pt>
                <c:pt idx="2">
                  <c:v>43.6</c:v>
                </c:pt>
                <c:pt idx="3">
                  <c:v>50.8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700" u="none">
                  <a:solidFill>
                    <a:srgbClr val="142B4A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4DFED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24385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D4DFED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D4DFED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27995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notes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【示例声明】这是 PaperLoom 的版式演示，不是完整论文汇报。DemoNav、Method A–F 与所有实验数值均为虚构，不能作为科研证据。
【设计用途】综述以六个分块代替大型对照表。真实使用时，每块填入来源明确的代表方法、机制和比较边界；来源与页码写入备注。该页所有 Method A–F 均为虚构。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【示例声明】这是 PaperLoom 的版式演示，不是完整论文汇报。DemoNav、Method A–F 与所有实验数值均为虚构，不能作为科研证据。
【设计用途】技术页使用原生 PowerPoint 形状及连接线，保留输入、更新、匹配和输出。融合公式仅用于展示原生 OMML 转换，并非 GeoNav 或任何真实论文的技术主张。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【示例声明】这是 PaperLoom 的版式演示，不是完整论文汇报。DemoNav、Method A–F 与所有实验数值均为虚构，不能作为科研证据。
【虚构数据】主表：Baseline A (32.0,25.8,8.4)，Baseline B (38.5,30.7,10.1)，Global only (41.2,32.4,9.3)，Local only (43.6,34.1,10.7)，DemoNav (50.8,40.9,11.2)。列为 SR (%), SPL (%), Time (s)。差值以百分点计算，50.8−38.5=12.3，50.8−43.6=7.2。此页不能被引用为真实实验结果。
【真实论文替换】记录数据页码、表号、指标定义、评测划分和可比条件。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73736"/>
            <a:ext cx="41148" cy="374904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4630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文献综述  研究路线与方法定位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2194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DD8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DemoNav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" y="6556248"/>
            <a:ext cx="11420856" cy="0"/>
          </a:xfrm>
          <a:prstGeom prst="line">
            <a:avLst/>
          </a:prstGeom>
          <a:noFill/>
          <a:ln w="7620">
            <a:solidFill>
              <a:srgbClr val="D4DF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6556248"/>
            <a:ext cx="512064" cy="0"/>
          </a:xfrm>
          <a:prstGeom prst="line">
            <a:avLst/>
          </a:prstGeom>
          <a:noFill/>
          <a:ln w="20320">
            <a:solidFill>
              <a:srgbClr val="142B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6556248"/>
            <a:ext cx="201168" cy="0"/>
          </a:xfrm>
          <a:prstGeom prst="line">
            <a:avLst/>
          </a:prstGeom>
          <a:noFill/>
          <a:ln w="20320">
            <a:solidFill>
              <a:srgbClr val="D5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27080" y="662940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279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/ 03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804672"/>
            <a:ext cx="1142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虚构案例：每块只保留方法、机制、局限，供真实论文内容替换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84048" y="1170432"/>
            <a:ext cx="3657600" cy="169164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170432"/>
            <a:ext cx="3657600" cy="0"/>
          </a:xfrm>
          <a:prstGeom prst="line">
            <a:avLst/>
          </a:prstGeom>
          <a:noFill/>
          <a:ln w="19050">
            <a:solidFill>
              <a:srgbClr val="D4DF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1289304"/>
            <a:ext cx="256032" cy="265176"/>
          </a:xfrm>
          <a:prstGeom prst="rect">
            <a:avLst/>
          </a:prstGeom>
          <a:solidFill>
            <a:srgbClr val="245CC0"/>
          </a:solidFill>
          <a:ln w="12700">
            <a:solidFill>
              <a:srgbClr val="245C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28930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77824" y="127101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20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直接策略学习</a:t>
            </a:r>
            <a:endParaRPr lang="en-US" sz="2020" dirty="0"/>
          </a:p>
        </p:txBody>
      </p:sp>
      <p:sp>
        <p:nvSpPr>
          <p:cNvPr id="16" name="Text 14"/>
          <p:cNvSpPr/>
          <p:nvPr/>
        </p:nvSpPr>
        <p:spPr>
          <a:xfrm>
            <a:off x="512064" y="1618488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45C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A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512064" y="1911096"/>
            <a:ext cx="3410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图像与目标描述输入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端到端预测动作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12064" y="2414016"/>
            <a:ext cx="34015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" y="2414016"/>
            <a:ext cx="22860" cy="34747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242316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依赖轨迹监督，跨场景表现需要验证</a:t>
            </a:r>
            <a:endParaRPr lang="en-US" sz="1430" dirty="0"/>
          </a:p>
        </p:txBody>
      </p:sp>
      <p:sp>
        <p:nvSpPr>
          <p:cNvPr id="21" name="Shape 19"/>
          <p:cNvSpPr/>
          <p:nvPr/>
        </p:nvSpPr>
        <p:spPr>
          <a:xfrm>
            <a:off x="4265676" y="1170432"/>
            <a:ext cx="3657600" cy="169164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5676" y="1170432"/>
            <a:ext cx="3657600" cy="0"/>
          </a:xfrm>
          <a:prstGeom prst="line">
            <a:avLst/>
          </a:prstGeom>
          <a:noFill/>
          <a:ln w="19050">
            <a:solidFill>
              <a:srgbClr val="D4DF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93692" y="1289304"/>
            <a:ext cx="256032" cy="265176"/>
          </a:xfrm>
          <a:prstGeom prst="rect">
            <a:avLst/>
          </a:prstGeom>
          <a:solidFill>
            <a:srgbClr val="245CC0"/>
          </a:solidFill>
          <a:ln w="12700">
            <a:solidFill>
              <a:srgbClr val="245C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3692" y="128930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759452" y="127101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20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全局语义地图</a:t>
            </a:r>
            <a:endParaRPr lang="en-US" sz="2020" dirty="0"/>
          </a:p>
        </p:txBody>
      </p:sp>
      <p:sp>
        <p:nvSpPr>
          <p:cNvPr id="26" name="Text 24"/>
          <p:cNvSpPr/>
          <p:nvPr/>
        </p:nvSpPr>
        <p:spPr>
          <a:xfrm>
            <a:off x="4393692" y="1618488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45C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B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4393692" y="1911096"/>
            <a:ext cx="3410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累计区域与地标信息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支持粗粒度路径规划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393692" y="2414016"/>
            <a:ext cx="34015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3692" y="2414016"/>
            <a:ext cx="22860" cy="34747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5132" y="242316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区域选择较清楚，相似对象仍难区分</a:t>
            </a:r>
            <a:endParaRPr lang="en-US" sz="1430" dirty="0"/>
          </a:p>
        </p:txBody>
      </p:sp>
      <p:sp>
        <p:nvSpPr>
          <p:cNvPr id="31" name="Shape 29"/>
          <p:cNvSpPr/>
          <p:nvPr/>
        </p:nvSpPr>
        <p:spPr>
          <a:xfrm>
            <a:off x="8147304" y="1170432"/>
            <a:ext cx="3657600" cy="169164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47304" y="1170432"/>
            <a:ext cx="3657600" cy="0"/>
          </a:xfrm>
          <a:prstGeom prst="line">
            <a:avLst/>
          </a:prstGeom>
          <a:noFill/>
          <a:ln w="19050">
            <a:solidFill>
              <a:srgbClr val="D4DF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1289304"/>
            <a:ext cx="256032" cy="265176"/>
          </a:xfrm>
          <a:prstGeom prst="rect">
            <a:avLst/>
          </a:prstGeom>
          <a:solidFill>
            <a:srgbClr val="245CC0"/>
          </a:solidFill>
          <a:ln w="12700">
            <a:solidFill>
              <a:srgbClr val="245C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128930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8641080" y="127101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20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局部对象推理</a:t>
            </a:r>
            <a:endParaRPr lang="en-US" sz="2020" dirty="0"/>
          </a:p>
        </p:txBody>
      </p:sp>
      <p:sp>
        <p:nvSpPr>
          <p:cNvPr id="36" name="Text 34"/>
          <p:cNvSpPr/>
          <p:nvPr/>
        </p:nvSpPr>
        <p:spPr>
          <a:xfrm>
            <a:off x="8275320" y="1618488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45C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C</a:t>
            </a:r>
            <a:endParaRPr lang="en-US" sz="1850" dirty="0"/>
          </a:p>
        </p:txBody>
      </p:sp>
      <p:sp>
        <p:nvSpPr>
          <p:cNvPr id="37" name="Text 35"/>
          <p:cNvSpPr/>
          <p:nvPr/>
        </p:nvSpPr>
        <p:spPr>
          <a:xfrm>
            <a:off x="8275320" y="1911096"/>
            <a:ext cx="3410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对象属性与空间关系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支持近距离目标匹配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275320" y="2414016"/>
            <a:ext cx="34015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2414016"/>
            <a:ext cx="22860" cy="34747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242316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对象关系较细致，长程方向感不足</a:t>
            </a:r>
            <a:endParaRPr lang="en-US" sz="1430" dirty="0"/>
          </a:p>
        </p:txBody>
      </p:sp>
      <p:sp>
        <p:nvSpPr>
          <p:cNvPr id="41" name="Shape 39"/>
          <p:cNvSpPr/>
          <p:nvPr/>
        </p:nvSpPr>
        <p:spPr>
          <a:xfrm>
            <a:off x="384048" y="3035808"/>
            <a:ext cx="3657600" cy="169164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" y="3035808"/>
            <a:ext cx="3657600" cy="0"/>
          </a:xfrm>
          <a:prstGeom prst="line">
            <a:avLst/>
          </a:prstGeom>
          <a:noFill/>
          <a:ln w="19050">
            <a:solidFill>
              <a:srgbClr val="D4DF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064" y="3154680"/>
            <a:ext cx="256032" cy="265176"/>
          </a:xfrm>
          <a:prstGeom prst="rect">
            <a:avLst/>
          </a:prstGeom>
          <a:solidFill>
            <a:srgbClr val="245CC0"/>
          </a:solidFill>
          <a:ln w="12700">
            <a:solidFill>
              <a:srgbClr val="245C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3154680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877824" y="313639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20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语言推理控制</a:t>
            </a:r>
            <a:endParaRPr lang="en-US" sz="2020" dirty="0"/>
          </a:p>
        </p:txBody>
      </p:sp>
      <p:sp>
        <p:nvSpPr>
          <p:cNvPr id="46" name="Text 44"/>
          <p:cNvSpPr/>
          <p:nvPr/>
        </p:nvSpPr>
        <p:spPr>
          <a:xfrm>
            <a:off x="512064" y="3483864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45C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D</a:t>
            </a:r>
            <a:endParaRPr lang="en-US" sz="1850" dirty="0"/>
          </a:p>
        </p:txBody>
      </p:sp>
      <p:sp>
        <p:nvSpPr>
          <p:cNvPr id="47" name="Text 45"/>
          <p:cNvSpPr/>
          <p:nvPr/>
        </p:nvSpPr>
        <p:spPr>
          <a:xfrm>
            <a:off x="512064" y="3776472"/>
            <a:ext cx="3410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将观测转成文字证据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按目标分阶段决策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512064" y="4279392"/>
            <a:ext cx="34015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2064" y="4279392"/>
            <a:ext cx="22860" cy="34747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" y="4288536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描述错误会传播，中间状态须可核验</a:t>
            </a:r>
            <a:endParaRPr lang="en-US" sz="1430" dirty="0"/>
          </a:p>
        </p:txBody>
      </p:sp>
      <p:sp>
        <p:nvSpPr>
          <p:cNvPr id="51" name="Shape 49"/>
          <p:cNvSpPr/>
          <p:nvPr/>
        </p:nvSpPr>
        <p:spPr>
          <a:xfrm>
            <a:off x="4265676" y="3035808"/>
            <a:ext cx="3657600" cy="169164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65676" y="3035808"/>
            <a:ext cx="3657600" cy="0"/>
          </a:xfrm>
          <a:prstGeom prst="line">
            <a:avLst/>
          </a:prstGeom>
          <a:noFill/>
          <a:ln w="19050">
            <a:solidFill>
              <a:srgbClr val="D4DF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93692" y="3154680"/>
            <a:ext cx="256032" cy="265176"/>
          </a:xfrm>
          <a:prstGeom prst="rect">
            <a:avLst/>
          </a:prstGeom>
          <a:solidFill>
            <a:srgbClr val="245CC0"/>
          </a:solidFill>
          <a:ln w="12700">
            <a:solidFill>
              <a:srgbClr val="245C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93692" y="3154680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900" dirty="0"/>
          </a:p>
        </p:txBody>
      </p:sp>
      <p:sp>
        <p:nvSpPr>
          <p:cNvPr id="55" name="Text 53"/>
          <p:cNvSpPr/>
          <p:nvPr/>
        </p:nvSpPr>
        <p:spPr>
          <a:xfrm>
            <a:off x="4759452" y="313639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20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跨视角视觉融合</a:t>
            </a:r>
            <a:endParaRPr lang="en-US" sz="2020" dirty="0"/>
          </a:p>
        </p:txBody>
      </p:sp>
      <p:sp>
        <p:nvSpPr>
          <p:cNvPr id="56" name="Text 54"/>
          <p:cNvSpPr/>
          <p:nvPr/>
        </p:nvSpPr>
        <p:spPr>
          <a:xfrm>
            <a:off x="4393692" y="3483864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45C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E</a:t>
            </a:r>
            <a:endParaRPr lang="en-US" sz="1850" dirty="0"/>
          </a:p>
        </p:txBody>
      </p:sp>
      <p:sp>
        <p:nvSpPr>
          <p:cNvPr id="57" name="Text 55"/>
          <p:cNvSpPr/>
          <p:nvPr/>
        </p:nvSpPr>
        <p:spPr>
          <a:xfrm>
            <a:off x="4393692" y="3776472"/>
            <a:ext cx="3410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组合多视角观测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补充被遮挡的线索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4393692" y="4279392"/>
            <a:ext cx="34015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393692" y="4279392"/>
            <a:ext cx="22860" cy="34747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5132" y="4288536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观测信息较充分，时序一致性需要维护</a:t>
            </a:r>
            <a:endParaRPr lang="en-US" sz="1430" dirty="0"/>
          </a:p>
        </p:txBody>
      </p:sp>
      <p:sp>
        <p:nvSpPr>
          <p:cNvPr id="61" name="Shape 59"/>
          <p:cNvSpPr/>
          <p:nvPr/>
        </p:nvSpPr>
        <p:spPr>
          <a:xfrm>
            <a:off x="8147304" y="3035808"/>
            <a:ext cx="3657600" cy="169164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47304" y="3035808"/>
            <a:ext cx="3657600" cy="0"/>
          </a:xfrm>
          <a:prstGeom prst="line">
            <a:avLst/>
          </a:prstGeom>
          <a:noFill/>
          <a:ln w="19050">
            <a:solidFill>
              <a:srgbClr val="D4DF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75320" y="3154680"/>
            <a:ext cx="256032" cy="265176"/>
          </a:xfrm>
          <a:prstGeom prst="rect">
            <a:avLst/>
          </a:prstGeom>
          <a:solidFill>
            <a:srgbClr val="245CC0"/>
          </a:solidFill>
          <a:ln w="12700">
            <a:solidFill>
              <a:srgbClr val="245CC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75320" y="3154680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>
            <a:off x="8641080" y="313639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20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图结构记忆</a:t>
            </a:r>
            <a:endParaRPr lang="en-US" sz="2020" dirty="0"/>
          </a:p>
        </p:txBody>
      </p:sp>
      <p:sp>
        <p:nvSpPr>
          <p:cNvPr id="66" name="Text 64"/>
          <p:cNvSpPr/>
          <p:nvPr/>
        </p:nvSpPr>
        <p:spPr>
          <a:xfrm>
            <a:off x="8275320" y="3483864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45C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F</a:t>
            </a:r>
            <a:endParaRPr lang="en-US" sz="1850" dirty="0"/>
          </a:p>
        </p:txBody>
      </p:sp>
      <p:sp>
        <p:nvSpPr>
          <p:cNvPr id="67" name="Text 65"/>
          <p:cNvSpPr/>
          <p:nvPr/>
        </p:nvSpPr>
        <p:spPr>
          <a:xfrm>
            <a:off x="8275320" y="3776472"/>
            <a:ext cx="3410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保存对象及其连接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持续更新关系与状态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8275320" y="4279392"/>
            <a:ext cx="34015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75320" y="4279392"/>
            <a:ext cx="22860" cy="34747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66760" y="4288536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结构支持追溯，错误合并影响后续判断</a:t>
            </a:r>
            <a:endParaRPr lang="en-US" sz="1430" dirty="0"/>
          </a:p>
        </p:txBody>
      </p:sp>
      <p:sp>
        <p:nvSpPr>
          <p:cNvPr id="71" name="Text 69"/>
          <p:cNvSpPr/>
          <p:nvPr/>
        </p:nvSpPr>
        <p:spPr>
          <a:xfrm>
            <a:off x="384048" y="50109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42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DemoNav </a:t>
            </a:r>
            <a:r>
              <a:rPr lang="en-US" sz="210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的示例定位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3291840" y="50474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全局选区域，局部辨对象，阶段策略连接两个尺度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384048" y="5458968"/>
            <a:ext cx="11420856" cy="786384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0352" y="5541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全局地图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530352" y="588873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1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区域、方位与覆盖状态</a:t>
            </a:r>
            <a:endParaRPr lang="en-US" sz="1710" dirty="0"/>
          </a:p>
        </p:txBody>
      </p:sp>
      <p:sp>
        <p:nvSpPr>
          <p:cNvPr id="76" name="Text 74"/>
          <p:cNvSpPr/>
          <p:nvPr/>
        </p:nvSpPr>
        <p:spPr>
          <a:xfrm>
            <a:off x="4489704" y="5541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局部对象图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4489704" y="588873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1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对象属性、关系与置信度</a:t>
            </a:r>
            <a:endParaRPr lang="en-US" sz="1710" dirty="0"/>
          </a:p>
        </p:txBody>
      </p:sp>
      <p:sp>
        <p:nvSpPr>
          <p:cNvPr id="78" name="Text 76"/>
          <p:cNvSpPr/>
          <p:nvPr/>
        </p:nvSpPr>
        <p:spPr>
          <a:xfrm>
            <a:off x="8394192" y="5541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阶段策略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8394192" y="588873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1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探索、匹配与停止条件</a:t>
            </a:r>
            <a:endParaRPr lang="en-US" sz="1710" dirty="0"/>
          </a:p>
        </p:txBody>
      </p:sp>
      <p:sp>
        <p:nvSpPr>
          <p:cNvPr id="80" name="Text 78"/>
          <p:cNvSpPr/>
          <p:nvPr/>
        </p:nvSpPr>
        <p:spPr>
          <a:xfrm>
            <a:off x="4096512" y="56692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D57D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400" dirty="0"/>
          </a:p>
        </p:txBody>
      </p:sp>
      <p:sp>
        <p:nvSpPr>
          <p:cNvPr id="81" name="Text 79"/>
          <p:cNvSpPr/>
          <p:nvPr/>
        </p:nvSpPr>
        <p:spPr>
          <a:xfrm>
            <a:off x="8001000" y="56692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D57D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="http://schemas.openxmlformats.org/officeDocument/2006/math" xmlns:mc="http://schemas.openxmlformats.org/markup-compatibility/2006" mc:Ignorable="a14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73736"/>
            <a:ext cx="41148" cy="374904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4630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技术机制  双尺度记忆与决策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2194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DD8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DemoNav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" y="6556248"/>
            <a:ext cx="11420856" cy="0"/>
          </a:xfrm>
          <a:prstGeom prst="line">
            <a:avLst/>
          </a:prstGeom>
          <a:noFill/>
          <a:ln w="7620">
            <a:solidFill>
              <a:srgbClr val="D4DF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6556248"/>
            <a:ext cx="512064" cy="0"/>
          </a:xfrm>
          <a:prstGeom prst="line">
            <a:avLst/>
          </a:prstGeom>
          <a:noFill/>
          <a:ln w="20320">
            <a:solidFill>
              <a:srgbClr val="142B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6556248"/>
            <a:ext cx="201168" cy="0"/>
          </a:xfrm>
          <a:prstGeom prst="line">
            <a:avLst/>
          </a:prstGeom>
          <a:noFill/>
          <a:ln w="20320">
            <a:solidFill>
              <a:srgbClr val="D5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27080" y="662940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279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/ 03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804672"/>
            <a:ext cx="1142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虚构机制示例：用输入、状态更新和输出解释一个核心模块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84048" y="1211580"/>
            <a:ext cx="32004" cy="21031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17043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输入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2743200" y="1211580"/>
            <a:ext cx="32004" cy="21031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62072" y="11704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状态更新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355080" y="1211580"/>
            <a:ext cx="32004" cy="21031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17043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匹配与决策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08592" y="1211580"/>
            <a:ext cx="32004" cy="21031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7464" y="11704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输出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384048" y="1719072"/>
            <a:ext cx="1920240" cy="1344168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183794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语言目标</a:t>
            </a:r>
            <a:endParaRPr lang="en-US" sz="2050" dirty="0"/>
          </a:p>
        </p:txBody>
      </p:sp>
      <p:sp>
        <p:nvSpPr>
          <p:cNvPr id="21" name="Shape 19"/>
          <p:cNvSpPr/>
          <p:nvPr/>
        </p:nvSpPr>
        <p:spPr>
          <a:xfrm>
            <a:off x="521208" y="2267712"/>
            <a:ext cx="1645920" cy="0"/>
          </a:xfrm>
          <a:prstGeom prst="line">
            <a:avLst/>
          </a:prstGeom>
          <a:noFill/>
          <a:ln w="9525">
            <a:solidFill>
              <a:srgbClr val="D4DF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2414016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对象类别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属性与关系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384048" y="3328416"/>
            <a:ext cx="1920240" cy="1344168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44728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视觉观测</a:t>
            </a:r>
            <a:endParaRPr lang="en-US" sz="2050" dirty="0"/>
          </a:p>
        </p:txBody>
      </p:sp>
      <p:sp>
        <p:nvSpPr>
          <p:cNvPr id="25" name="Shape 23"/>
          <p:cNvSpPr/>
          <p:nvPr/>
        </p:nvSpPr>
        <p:spPr>
          <a:xfrm>
            <a:off x="521208" y="3877056"/>
            <a:ext cx="1645920" cy="0"/>
          </a:xfrm>
          <a:prstGeom prst="line">
            <a:avLst/>
          </a:prstGeom>
          <a:noFill/>
          <a:ln w="9525">
            <a:solidFill>
              <a:srgbClr val="D4DF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402336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当前图像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位置与朝向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2743200" y="1719072"/>
            <a:ext cx="3136392" cy="1344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1837944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全局地图</a:t>
            </a:r>
            <a:endParaRPr lang="en-US" sz="2050" dirty="0"/>
          </a:p>
        </p:txBody>
      </p:sp>
      <p:sp>
        <p:nvSpPr>
          <p:cNvPr id="29" name="Shape 27"/>
          <p:cNvSpPr/>
          <p:nvPr/>
        </p:nvSpPr>
        <p:spPr>
          <a:xfrm>
            <a:off x="2880360" y="2267712"/>
            <a:ext cx="2862072" cy="0"/>
          </a:xfrm>
          <a:prstGeom prst="line">
            <a:avLst/>
          </a:prstGeom>
          <a:noFill/>
          <a:ln w="9525">
            <a:solidFill>
              <a:srgbClr val="D4DF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2414016"/>
            <a:ext cx="28620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定位候选区域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更新覆盖与访问状态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2743200" y="3328416"/>
            <a:ext cx="3136392" cy="1344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3447288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局部对象图</a:t>
            </a:r>
            <a:endParaRPr lang="en-US" sz="2050" dirty="0"/>
          </a:p>
        </p:txBody>
      </p:sp>
      <p:sp>
        <p:nvSpPr>
          <p:cNvPr id="33" name="Shape 31"/>
          <p:cNvSpPr/>
          <p:nvPr/>
        </p:nvSpPr>
        <p:spPr>
          <a:xfrm>
            <a:off x="2880360" y="3877056"/>
            <a:ext cx="2862072" cy="0"/>
          </a:xfrm>
          <a:prstGeom prst="line">
            <a:avLst/>
          </a:prstGeom>
          <a:noFill/>
          <a:ln w="9525">
            <a:solidFill>
              <a:srgbClr val="D4DF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0360" y="4023360"/>
            <a:ext cx="28620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关联对象与属性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更新空间关系与置信度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6355080" y="1719072"/>
            <a:ext cx="2468880" cy="2953512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183794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目标匹配</a:t>
            </a:r>
            <a:endParaRPr lang="en-US" sz="2050" dirty="0"/>
          </a:p>
        </p:txBody>
      </p:sp>
      <p:sp>
        <p:nvSpPr>
          <p:cNvPr id="37" name="Shape 35"/>
          <p:cNvSpPr/>
          <p:nvPr/>
        </p:nvSpPr>
        <p:spPr>
          <a:xfrm>
            <a:off x="6492240" y="2267712"/>
            <a:ext cx="2194560" cy="0"/>
          </a:xfrm>
          <a:prstGeom prst="line">
            <a:avLst/>
          </a:prstGeom>
          <a:noFill/>
          <a:ln w="9525">
            <a:solidFill>
              <a:srgbClr val="D4DF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414016"/>
            <a:ext cx="219456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全局分数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区域是否相关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局部分数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对象是否吻合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融合后选择目标</a:t>
            </a:r>
            <a:endParaRPr lang="en-US" sz="1750" dirty="0"/>
          </a:p>
        </p:txBody>
      </p:sp>
      <p:sp>
        <p:nvSpPr>
          <p:cNvPr id="39" name="Shape 37"/>
          <p:cNvSpPr/>
          <p:nvPr/>
        </p:nvSpPr>
        <p:spPr>
          <a:xfrm>
            <a:off x="9308592" y="1719072"/>
            <a:ext cx="2496312" cy="2953512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45752" y="1837944"/>
            <a:ext cx="2221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动作与终止</a:t>
            </a:r>
            <a:endParaRPr lang="en-US" sz="2050" dirty="0"/>
          </a:p>
        </p:txBody>
      </p:sp>
      <p:sp>
        <p:nvSpPr>
          <p:cNvPr id="41" name="Shape 39"/>
          <p:cNvSpPr/>
          <p:nvPr/>
        </p:nvSpPr>
        <p:spPr>
          <a:xfrm>
            <a:off x="9445752" y="2267712"/>
            <a:ext cx="2221992" cy="0"/>
          </a:xfrm>
          <a:prstGeom prst="line">
            <a:avLst/>
          </a:prstGeom>
          <a:noFill/>
          <a:ln w="9525">
            <a:solidFill>
              <a:srgbClr val="D4DF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45752" y="2414016"/>
            <a:ext cx="2221992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相关区域未覆盖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继续探索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候选对象不确定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补充观察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证据满足条件</a:t>
            </a:r>
            <a:endParaRPr lang="en-US" sz="1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输出停止动作</a:t>
            </a:r>
            <a:endParaRPr lang="en-US" sz="1750" dirty="0"/>
          </a:p>
        </p:txBody>
      </p:sp>
      <p:sp>
        <p:nvSpPr>
          <p:cNvPr id="43" name="Shape 41"/>
          <p:cNvSpPr/>
          <p:nvPr/>
        </p:nvSpPr>
        <p:spPr>
          <a:xfrm>
            <a:off x="2304288" y="2391156"/>
            <a:ext cx="438912" cy="0"/>
          </a:xfrm>
          <a:prstGeom prst="line">
            <a:avLst/>
          </a:prstGeom>
          <a:noFill/>
          <a:ln w="19050">
            <a:solidFill>
              <a:srgbClr val="245CC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304288" y="4000500"/>
            <a:ext cx="438912" cy="0"/>
          </a:xfrm>
          <a:prstGeom prst="line">
            <a:avLst/>
          </a:prstGeom>
          <a:noFill/>
          <a:ln w="19050">
            <a:solidFill>
              <a:srgbClr val="245CC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879592" y="2391156"/>
            <a:ext cx="475488" cy="0"/>
          </a:xfrm>
          <a:prstGeom prst="line">
            <a:avLst/>
          </a:prstGeom>
          <a:noFill/>
          <a:ln w="19050">
            <a:solidFill>
              <a:srgbClr val="245CC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879592" y="4000500"/>
            <a:ext cx="475488" cy="0"/>
          </a:xfrm>
          <a:prstGeom prst="line">
            <a:avLst/>
          </a:prstGeom>
          <a:noFill/>
          <a:ln w="19050">
            <a:solidFill>
              <a:srgbClr val="245CC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823960" y="3195828"/>
            <a:ext cx="484632" cy="0"/>
          </a:xfrm>
          <a:prstGeom prst="line">
            <a:avLst/>
          </a:prstGeom>
          <a:noFill/>
          <a:ln w="19050">
            <a:solidFill>
              <a:srgbClr val="245CC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311396" y="3063240"/>
            <a:ext cx="0" cy="265176"/>
          </a:xfrm>
          <a:prstGeom prst="line">
            <a:avLst/>
          </a:prstGeom>
          <a:noFill/>
          <a:ln w="17780">
            <a:solidFill>
              <a:srgbClr val="D57D31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84048" y="5029200"/>
            <a:ext cx="11420856" cy="1234440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5175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融合评分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2779776" y="5138928"/>
            <a:ext cx="8732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  <a:defRPr lang="en-US" sz="2500" dirty="0">
                <a:solidFill>
                  <a:srgbClr val="142B4A"/>
                </a:solidFill>
                <a:latin typeface="Times New Roman"/>
                <a:ea typeface="Times New Roman"/>
                <a:cs typeface="Times New Roman"/>
              </a:defRPr>
            </a:pPr>
            <a14:m>
              <m:oMathPara>
                <m:oMathParaPr>
                  <m:jc m:val="center"/>
                </m:oMathParaPr>
                <m:oMath>
                  <m:r>
                    <a:rPr lang="en-US" sz="2500" dirty="0">
                      <a:solidFill>
                        <a:srgbClr val="142B4A"/>
                      </a:solidFill>
                      <a:latin typeface="Times New Roman"/>
                      <a:ea typeface="Times New Roman"/>
                      <a:cs typeface="Times New Roman"/>
                    </a:rPr>
                    <m:t>S</m:t>
                  </m:r>
                  <m:r>
                    <m:rPr>
                      <m:sty m:val="p"/>
                    </m:rPr>
                    <a:rPr lang="en-US" sz="2500" dirty="0">
                      <a:solidFill>
                        <a:srgbClr val="142B4A"/>
                      </a:solidFill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sz="2500" dirty="0">
                      <a:solidFill>
                        <a:srgbClr val="142B4A"/>
                      </a:solidFill>
                      <a:latin typeface="Times New Roman"/>
                      <a:ea typeface="Times New Roman"/>
                      <a:cs typeface="Times New Roman"/>
                    </a:rPr>
                    <m:t>α</m:t>
                  </m:r>
                  <m:sSub>
                    <m:e>
                      <m: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S</m:t>
                      </m:r>
                    </m:e>
                    <m:sub>
                      <m:r>
                        <m:rPr>
                          <m:sty m:val="p"/>
                        </m:rP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l</m:t>
                      </m:r>
                    </m:sub>
                  </m:sSub>
                  <m:r>
                    <m:rPr>
                      <m:sty m:val="p"/>
                    </m:rPr>
                    <a:rPr lang="en-US" sz="2500" dirty="0">
                      <a:solidFill>
                        <a:srgbClr val="142B4A"/>
                      </a:solidFill>
                      <a:latin typeface="Times New Roman"/>
                      <a:ea typeface="Times New Roman"/>
                      <a:cs typeface="Times New Roman"/>
                    </a:rPr>
                    <m:t>+</m:t>
                  </m:r>
                  <m:r>
                    <m:rPr>
                      <m:sty m:val="p"/>
                    </m:rPr>
                    <a:rPr lang="en-US" sz="2500" dirty="0">
                      <a:solidFill>
                        <a:srgbClr val="142B4A"/>
                      </a:solidFill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sz="2500" dirty="0">
                      <a:solidFill>
                        <a:srgbClr val="142B4A"/>
                      </a:solidFill>
                      <a:latin typeface="Times New Roman"/>
                      <a:ea typeface="Times New Roman"/>
                      <a:cs typeface="Times New Roman"/>
                    </a:rPr>
                    <m:t>1</m:t>
                  </m:r>
                  <m:r>
                    <m:rPr>
                      <m:sty m:val="p"/>
                    </m:rPr>
                    <a:rPr lang="en-US" sz="2500" dirty="0">
                      <a:solidFill>
                        <a:srgbClr val="142B4A"/>
                      </a:solidFill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sz="2500" dirty="0">
                      <a:solidFill>
                        <a:srgbClr val="142B4A"/>
                      </a:solidFill>
                      <a:latin typeface="Times New Roman"/>
                      <a:ea typeface="Times New Roman"/>
                      <a:cs typeface="Times New Roman"/>
                    </a:rPr>
                    <m:t>α</m:t>
                  </m:r>
                  <m:r>
                    <m:rPr>
                      <m:sty m:val="p"/>
                    </m:rPr>
                    <a:rPr lang="en-US" sz="2500" dirty="0">
                      <a:solidFill>
                        <a:srgbClr val="142B4A"/>
                      </a:solidFill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sSub>
                    <m:e>
                      <m: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S</m:t>
                      </m:r>
                    </m:e>
                    <m:sub>
                      <m:r>
                        <m:rPr>
                          <m:sty m:val="p"/>
                        </m:rP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500" dirty="0">
                          <a:solidFill>
                            <a:srgbClr val="142B4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l</m:t>
                      </m:r>
                    </m:sub>
                  </m:sSub>
                </m:oMath>
              </m:oMathPara>
            </a14:m>
            <a:endParaRPr lang="en-US" sz="2500" dirty="0">
              <a:solidFill>
                <a:srgbClr val="142B4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57784" y="5806440"/>
            <a:ext cx="11045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权重控制两个尺度的贡献。真实汇报只展示解释核心机制所必需的公式。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73736"/>
            <a:ext cx="41148" cy="374904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4630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实验结果  主结果与消融证据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2194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DD8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DemoNav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" y="6556248"/>
            <a:ext cx="11420856" cy="0"/>
          </a:xfrm>
          <a:prstGeom prst="line">
            <a:avLst/>
          </a:prstGeom>
          <a:noFill/>
          <a:ln w="7620">
            <a:solidFill>
              <a:srgbClr val="D4DF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6556248"/>
            <a:ext cx="512064" cy="0"/>
          </a:xfrm>
          <a:prstGeom prst="line">
            <a:avLst/>
          </a:prstGeom>
          <a:noFill/>
          <a:ln w="20320">
            <a:solidFill>
              <a:srgbClr val="142B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6556248"/>
            <a:ext cx="201168" cy="0"/>
          </a:xfrm>
          <a:prstGeom prst="line">
            <a:avLst/>
          </a:prstGeom>
          <a:noFill/>
          <a:ln w="20320">
            <a:solidFill>
              <a:srgbClr val="D5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27080" y="662940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279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/ 03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804672"/>
            <a:ext cx="1142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以下方法、指标和数值全部为虚构数据，仅用于演示可编辑表格与图表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84048" y="1211580"/>
            <a:ext cx="32004" cy="21031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170432"/>
            <a:ext cx="5404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主结果：同时保留效果与成本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236208" y="1211580"/>
            <a:ext cx="32004" cy="210312"/>
          </a:xfrm>
          <a:prstGeom prst="rect">
            <a:avLst/>
          </a:prstGeom>
          <a:solidFill>
            <a:srgbClr val="D57D31"/>
          </a:solidFill>
          <a:ln w="12700">
            <a:solidFill>
              <a:srgbClr val="D57D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7043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42B4A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消融结果：解释模块贡献</a:t>
            </a:r>
            <a:endParaRPr lang="en-US" sz="1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719072"/>
          <a:ext cx="5522976" cy="2852928"/>
        </p:xfrm>
        <a:graphic>
          <a:graphicData uri="http://schemas.openxmlformats.org/drawingml/2006/table">
            <a:tbl>
              <a:tblPr/>
              <a:tblGrid>
                <a:gridCol w="2176272"/>
                <a:gridCol w="1097280"/>
                <a:gridCol w="1133856"/>
                <a:gridCol w="1115568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b="1" dirty="0">
                          <a:solidFill>
                            <a:srgbClr val="FFFFFF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方法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 (%)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SPL (%)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 (s)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A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32.0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25.8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8.4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B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38.5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30.7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10.1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Global only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41.2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32.4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9.3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Local only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43.6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34.1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dirty="0">
                          <a:solidFill>
                            <a:srgbClr val="2438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10.7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b="1" dirty="0">
                          <a:solidFill>
                            <a:srgbClr val="245C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DemoNav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b="1" dirty="0">
                          <a:solidFill>
                            <a:srgbClr val="245C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50.8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b="1" dirty="0">
                          <a:solidFill>
                            <a:srgbClr val="245C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40.9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50" b="1" dirty="0">
                          <a:solidFill>
                            <a:srgbClr val="245C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11.2</a:t>
                      </a:r>
                      <a:endParaRPr lang="en-US" sz="18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91440" marT="82296" marB="82296" anchor="ctr">
                    <a:lnL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393192" y="4700016"/>
            <a:ext cx="5504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279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</a:t>
            </a:r>
            <a:r>
              <a:rPr lang="en-US" sz="160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：成功率   </a:t>
            </a:r>
            <a:r>
              <a:rPr lang="en-US" sz="1600" dirty="0">
                <a:solidFill>
                  <a:srgbClr val="62799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</a:t>
            </a:r>
            <a:r>
              <a:rPr lang="en-US" sz="1600" dirty="0">
                <a:solidFill>
                  <a:srgbClr val="627995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：按路径长度加权的成功率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236208" y="1673352"/>
          <a:ext cx="5559552" cy="3310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4"/>
          <p:cNvSpPr/>
          <p:nvPr/>
        </p:nvSpPr>
        <p:spPr>
          <a:xfrm>
            <a:off x="384048" y="5248656"/>
            <a:ext cx="5522976" cy="1005840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36208" y="5248656"/>
            <a:ext cx="5559552" cy="100584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57784" y="5358384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45C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+12.3 </a:t>
            </a:r>
            <a:r>
              <a:rPr lang="en-US" sz="2400" b="1" dirty="0">
                <a:solidFill>
                  <a:srgbClr val="245CC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个百分点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557784" y="5833872"/>
            <a:ext cx="5184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DemoNav </a:t>
            </a: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相对 </a:t>
            </a:r>
            <a:r>
              <a:rPr lang="en-US" sz="1700" dirty="0">
                <a:solidFill>
                  <a:srgbClr val="2438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B </a:t>
            </a: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的 </a:t>
            </a:r>
            <a:r>
              <a:rPr lang="en-US" sz="1700" dirty="0">
                <a:solidFill>
                  <a:srgbClr val="2438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 </a:t>
            </a: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差值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409944" y="5358384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57D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+7.2 </a:t>
            </a:r>
            <a:r>
              <a:rPr lang="en-US" sz="2400" b="1" dirty="0">
                <a:solidFill>
                  <a:srgbClr val="D57D3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个百分点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6409944" y="5833872"/>
            <a:ext cx="5202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完整配置相对 </a:t>
            </a:r>
            <a:r>
              <a:rPr lang="en-US" sz="1700" dirty="0">
                <a:solidFill>
                  <a:srgbClr val="2438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only </a:t>
            </a: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的 </a:t>
            </a:r>
            <a:r>
              <a:rPr lang="en-US" sz="1700" dirty="0">
                <a:solidFill>
                  <a:srgbClr val="2438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 </a:t>
            </a:r>
            <a:r>
              <a:rPr lang="en-US" sz="1700" dirty="0">
                <a:solidFill>
                  <a:srgbClr val="2438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差值</a:t>
            </a:r>
            <a:endParaRPr lang="en-US" sz="1700" dirty="0"/>
          </a:p>
        </p:txBody>
      </p:sp>
    </p:spTree>
  </p:cSld>
  <p:clrMapOvr>
    <a:masterClrMapping/>
  </p:clrMapOvr>
</p:sld>
</file>

<file path=ppt/theme/notes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angSong_GB2312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angSong_GB2312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angSong_GB2312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angSong_GB2312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PaperLoom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PaperLoom — 版式组件示例</dc:title>
  <dc:subject>Three editable layout components. All DemoNav methods and numbers are fictional.</dc:subject>
  <dc:creator>PaperLoom</dc:creator>
  <cp:lastModifiedBy>PaperLoom</cp:lastModifiedBy>
  <cp:revision>1</cp:revision>
  <dcterms:created xsi:type="dcterms:W3CDTF">2026-09-13T06:32:59Z</dcterms:created>
  <dcterms:modified xsi:type="dcterms:W3CDTF">2026-09-13T06:32:59Z</dcterms:modified>
</cp:coreProperties>
</file>