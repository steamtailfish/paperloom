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8" r:id="rId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SR (%)</c:v>
                </c:pt>
              </c:strCache>
            </c:strRef>
          </c:tx>
          <c:spPr>
            <a:solidFill>
              <a:srgbClr val="245CC0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700" u="none">
                    <a:solidFill>
                      <a:srgbClr val="142B4A"/>
                    </a:solidFill>
                    <a:latin typeface="Times New Roman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Base</c:v>
                  </c:pt>
                  <c:pt idx="1">
                    <c:v>+ Global</c:v>
                  </c:pt>
                  <c:pt idx="2">
                    <c:v>+ Local</c:v>
                  </c:pt>
                  <c:pt idx="3">
                    <c:v>Full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32</c:v>
                </c:pt>
                <c:pt idx="1">
                  <c:v>41.2</c:v>
                </c:pt>
                <c:pt idx="2">
                  <c:v>43.6</c:v>
                </c:pt>
                <c:pt idx="3">
                  <c:v>50.8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700" u="none">
                  <a:solidFill>
                    <a:srgbClr val="142B4A"/>
                  </a:solidFill>
                  <a:latin typeface="Times New Roman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4DFED"/>
            </a:solidFill>
            <a:prstDash val="solid"/>
            <a:round/>
          </a:ln>
        </c:spPr>
        <c:txPr>
          <a:bodyPr/>
          <a:lstStyle/>
          <a:p>
            <a:pPr>
              <a:defRPr sz="1500" b="0" i="0" u="none" strike="noStrike">
                <a:solidFill>
                  <a:srgbClr val="243850"/>
                </a:solidFill>
                <a:latin typeface="Times New Roman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12700" cap="flat">
              <a:solidFill>
                <a:srgbClr val="D4DFED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nextTo"/>
        <c:spPr>
          <a:ln w="12700" cap="flat">
            <a:solidFill>
              <a:srgbClr val="D4DFED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627995"/>
                </a:solidFill>
                <a:latin typeface="Times New Roman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solidFill>
          <a:srgbClr val="FFFFFF"/>
        </a:solidFill>
        <a:ln w="12700" cap="flat">
          <a:solidFill>
            <a:srgbClr val="FFFFFF"/>
          </a:solidFill>
        </a:ln>
        <a:effectLst/>
      </c:spPr>
    </c:plotArea>
    <c:plotVisOnly val="1"/>
    <c:dispBlanksAs val="span"/>
  </c:chart>
  <c:spPr>
    <a:solidFill>
      <a:srgbClr val="FFFFFF"/>
    </a:solidFill>
    <a:ln w="12700" cap="flat">
      <a:solidFill>
        <a:srgbClr val="FFFFFF"/>
      </a:solidFill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【示例声明】这是 PaperLoom 的版式演示，不是完整论文汇报。DemoNav、Method A–F 与所有实验数值均为虚构，不能作为科研证据。
【设计用途】综述以六个分块代替大型对照表。真实使用时，每块填入来源明确的代表方法、机制和比较边界；来源与页码写入备注。该页所有 Method A–F 均为虚构。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【示例声明】这是 PaperLoom 的版式演示，不是完整论文汇报。DemoNav、Method A–F 与所有实验数值均为虚构，不能作为科研证据。
【设计用途】技术页使用原生 PowerPoint 形状及连接线，保留输入、更新、匹配和输出。融合公式仅用于展示原生 OMML 转换，并非 GeoNav 或任何真实论文的技术主张。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【示例声明】这是 PaperLoom 的版式演示，不是完整论文汇报。DemoNav、Method A–F 与所有实验数值均为虚构，不能作为科研证据。
【虚构数据】主表：Baseline A (32.0,25.8,8.4)，Baseline B (38.5,30.7,10.1)，Global only (41.2,32.4,9.3)，Local only (43.6,34.1,10.7)，DemoNav (50.8,40.9,11.2)。列为 SR (%), SPL (%), Time (s)。差值以百分点计算，50.8−38.5=12.3，50.8−43.6=7.2。此页不能被引用为真实实验结果。
【真实论文替换】记录数据页码、表号、指标定义、评测划分和可比条件。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13232"/>
          </a:xfrm>
          <a:prstGeom prst="rect">
            <a:avLst/>
          </a:prstGeom>
          <a:solidFill>
            <a:srgbClr val="142B4A"/>
          </a:solidFill>
          <a:ln w="12700">
            <a:solidFill>
              <a:srgbClr val="142B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65760" y="173736"/>
            <a:ext cx="41148" cy="374904"/>
          </a:xfrm>
          <a:prstGeom prst="rect">
            <a:avLst/>
          </a:prstGeom>
          <a:solidFill>
            <a:srgbClr val="D57D31"/>
          </a:solidFill>
          <a:ln w="12700">
            <a:solidFill>
              <a:srgbClr val="D57D3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30352" y="146304"/>
            <a:ext cx="9875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dirty="0">
                <a:solidFill>
                  <a:srgbClr val="FFFFFF"/>
                </a:solidFill>
                <a:latin typeface="FangSong_GB2312" pitchFamily="34" charset="0"/>
                <a:ea typeface="FangSong_GB2312" pitchFamily="34" charset="-122"/>
                <a:cs typeface="FangSong_GB2312" pitchFamily="34" charset="-120"/>
              </a:rPr>
              <a:t>文献综述  研究路线与方法定位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0561320" y="219456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CDD8E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DemoNav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84048" y="6556248"/>
            <a:ext cx="11420856" cy="0"/>
          </a:xfrm>
          <a:prstGeom prst="line">
            <a:avLst/>
          </a:prstGeom>
          <a:noFill/>
          <a:ln w="7620">
            <a:solidFill>
              <a:srgbClr val="D4DFE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84048" y="6556248"/>
            <a:ext cx="512064" cy="0"/>
          </a:xfrm>
          <a:prstGeom prst="line">
            <a:avLst/>
          </a:prstGeom>
          <a:noFill/>
          <a:ln w="20320">
            <a:solidFill>
              <a:srgbClr val="142B4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96112" y="6556248"/>
            <a:ext cx="201168" cy="0"/>
          </a:xfrm>
          <a:prstGeom prst="line">
            <a:avLst/>
          </a:prstGeom>
          <a:noFill/>
          <a:ln w="20320">
            <a:solidFill>
              <a:srgbClr val="D57D3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27080" y="6629400"/>
            <a:ext cx="8778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62799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01 / 03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84048" y="804672"/>
            <a:ext cx="11420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50" dirty="0">
                <a:solidFill>
                  <a:srgbClr val="627995"/>
                </a:solidFill>
                <a:latin typeface="FangSong_GB2312" pitchFamily="34" charset="0"/>
                <a:ea typeface="FangSong_GB2312" pitchFamily="34" charset="-122"/>
                <a:cs typeface="FangSong_GB2312" pitchFamily="34" charset="-120"/>
              </a:rPr>
              <a:t>虚构案例：每块只保留方法、机制、局限，供真实论文内容替换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384048" y="1170432"/>
            <a:ext cx="3657600" cy="1691640"/>
          </a:xfrm>
          <a:prstGeom prst="rect">
            <a:avLst/>
          </a:prstGeom>
          <a:solidFill>
            <a:srgbClr val="F1F4F8"/>
          </a:solidFill>
          <a:ln w="12700">
            <a:solidFill>
              <a:srgbClr val="F1F4F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84048" y="1170432"/>
            <a:ext cx="3657600" cy="0"/>
          </a:xfrm>
          <a:prstGeom prst="line">
            <a:avLst/>
          </a:prstGeom>
          <a:noFill/>
          <a:ln w="19050">
            <a:solidFill>
              <a:srgbClr val="D4DFE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12064" y="1289304"/>
            <a:ext cx="256032" cy="265176"/>
          </a:xfrm>
          <a:prstGeom prst="rect">
            <a:avLst/>
          </a:prstGeom>
          <a:solidFill>
            <a:srgbClr val="245CC0"/>
          </a:solidFill>
          <a:ln w="12700">
            <a:solidFill>
              <a:srgbClr val="245CC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12064" y="1289304"/>
            <a:ext cx="25603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877824" y="1271016"/>
            <a:ext cx="2990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20" dirty="0">
                <a:solidFill>
                  <a:srgbClr val="142B4A"/>
                </a:solidFill>
                <a:latin typeface="FangSong_GB2312" pitchFamily="34" charset="0"/>
                <a:ea typeface="FangSong_GB2312" pitchFamily="34" charset="-122"/>
                <a:cs typeface="FangSong_GB2312" pitchFamily="34" charset="-120"/>
              </a:rPr>
              <a:t>直接策略学习</a:t>
            </a:r>
            <a:endParaRPr lang="en-US" sz="2020" dirty="0"/>
          </a:p>
        </p:txBody>
      </p:sp>
      <p:sp>
        <p:nvSpPr>
          <p:cNvPr id="16" name="Text 14"/>
          <p:cNvSpPr/>
          <p:nvPr/>
        </p:nvSpPr>
        <p:spPr>
          <a:xfrm>
            <a:off x="512064" y="1618488"/>
            <a:ext cx="34107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850" b="1" dirty="0">
                <a:solidFill>
                  <a:srgbClr val="245CC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Method A</a:t>
            </a:r>
            <a:endParaRPr lang="en-US" sz="1850" dirty="0"/>
          </a:p>
        </p:txBody>
      </p:sp>
      <p:sp>
        <p:nvSpPr>
          <p:cNvPr id="17" name="Text 15"/>
          <p:cNvSpPr/>
          <p:nvPr/>
        </p:nvSpPr>
        <p:spPr>
          <a:xfrm>
            <a:off x="512064" y="1911096"/>
            <a:ext cx="3410712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dirty="0">
                <a:solidFill>
                  <a:srgbClr val="243850"/>
                </a:solidFill>
                <a:latin typeface="FangSong_GB2312" pitchFamily="34" charset="0"/>
                <a:ea typeface="FangSong_GB2312" pitchFamily="34" charset="-122"/>
                <a:cs typeface="FangSong_GB2312" pitchFamily="34" charset="-120"/>
              </a:rPr>
              <a:t>图像与目标描述输入</a:t>
            </a:r>
            <a:endParaRPr lang="en-US" sz="1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700" dirty="0">
                <a:solidFill>
                  <a:srgbClr val="243850"/>
                </a:solidFill>
                <a:latin typeface="FangSong_GB2312" pitchFamily="34" charset="0"/>
                <a:ea typeface="FangSong_GB2312" pitchFamily="34" charset="-122"/>
                <a:cs typeface="FangSong_GB2312" pitchFamily="34" charset="-120"/>
              </a:rPr>
              <a:t>端到端预测动作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512064" y="2414016"/>
            <a:ext cx="3401568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12064" y="2414016"/>
            <a:ext cx="22860" cy="347472"/>
          </a:xfrm>
          <a:prstGeom prst="rect">
            <a:avLst/>
          </a:prstGeom>
          <a:solidFill>
            <a:srgbClr val="D57D31"/>
          </a:solidFill>
          <a:ln w="12700">
            <a:solidFill>
              <a:srgbClr val="D57D3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03504" y="2423160"/>
            <a:ext cx="32278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30" dirty="0">
                <a:solidFill>
                  <a:srgbClr val="627995"/>
                </a:solidFill>
                <a:latin typeface="FangSong_GB2312" pitchFamily="34" charset="0"/>
                <a:ea typeface="FangSong_GB2312" pitchFamily="34" charset="-122"/>
                <a:cs typeface="FangSong_GB2312" pitchFamily="34" charset="-120"/>
              </a:rPr>
              <a:t>依赖轨迹监督，跨场景表现需要验证</a:t>
            </a:r>
            <a:endParaRPr lang="en-US" sz="1430" dirty="0"/>
          </a:p>
        </p:txBody>
      </p:sp>
      <p:sp>
        <p:nvSpPr>
          <p:cNvPr id="21" name="Shape 19"/>
          <p:cNvSpPr/>
          <p:nvPr/>
        </p:nvSpPr>
        <p:spPr>
          <a:xfrm>
            <a:off x="4265676" y="1170432"/>
            <a:ext cx="3657600" cy="1691640"/>
          </a:xfrm>
          <a:prstGeom prst="rect">
            <a:avLst/>
          </a:prstGeom>
          <a:solidFill>
            <a:srgbClr val="F1F4F8"/>
          </a:solidFill>
          <a:ln w="12700">
            <a:solidFill>
              <a:srgbClr val="F1F4F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265676" y="1170432"/>
            <a:ext cx="3657600" cy="0"/>
          </a:xfrm>
          <a:prstGeom prst="line">
            <a:avLst/>
          </a:prstGeom>
          <a:noFill/>
          <a:ln w="19050">
            <a:solidFill>
              <a:srgbClr val="D4DFE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393692" y="1289304"/>
            <a:ext cx="256032" cy="265176"/>
          </a:xfrm>
          <a:prstGeom prst="rect">
            <a:avLst/>
          </a:prstGeom>
          <a:solidFill>
            <a:srgbClr val="245CC0"/>
          </a:solidFill>
          <a:ln w="12700">
            <a:solidFill>
              <a:srgbClr val="245CC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393692" y="1289304"/>
            <a:ext cx="25603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</a:t>
            </a:r>
            <a:endParaRPr lang="en-US" sz="1900" dirty="0"/>
          </a:p>
        </p:txBody>
      </p:sp>
      <p:sp>
        <p:nvSpPr>
          <p:cNvPr id="25" name="Text 23"/>
          <p:cNvSpPr/>
          <p:nvPr/>
        </p:nvSpPr>
        <p:spPr>
          <a:xfrm>
            <a:off x="4759452" y="1271016"/>
            <a:ext cx="2990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20" dirty="0">
                <a:solidFill>
                  <a:srgbClr val="142B4A"/>
                </a:solidFill>
                <a:latin typeface="FangSong_GB2312" pitchFamily="34" charset="0"/>
                <a:ea typeface="FangSong_GB2312" pitchFamily="34" charset="-122"/>
                <a:cs typeface="FangSong_GB2312" pitchFamily="34" charset="-120"/>
              </a:rPr>
              <a:t>全局语义地图</a:t>
            </a:r>
            <a:endParaRPr lang="en-US" sz="2020" dirty="0"/>
          </a:p>
        </p:txBody>
      </p:sp>
      <p:sp>
        <p:nvSpPr>
          <p:cNvPr id="26" name="Text 24"/>
          <p:cNvSpPr/>
          <p:nvPr/>
        </p:nvSpPr>
        <p:spPr>
          <a:xfrm>
            <a:off x="4393692" y="1618488"/>
            <a:ext cx="34107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850" b="1" dirty="0">
                <a:solidFill>
                  <a:srgbClr val="245CC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Method B</a:t>
            </a:r>
            <a:endParaRPr lang="en-US" sz="1850" dirty="0"/>
          </a:p>
        </p:txBody>
      </p:sp>
      <p:sp>
        <p:nvSpPr>
          <p:cNvPr id="27" name="Text 25"/>
          <p:cNvSpPr/>
          <p:nvPr/>
        </p:nvSpPr>
        <p:spPr>
          <a:xfrm>
            <a:off x="4393692" y="1911096"/>
            <a:ext cx="3410712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dirty="0">
                <a:solidFill>
                  <a:srgbClr val="243850"/>
                </a:solidFill>
                <a:latin typeface="FangSong_GB2312" pitchFamily="34" charset="0"/>
                <a:ea typeface="FangSong_GB2312" pitchFamily="34" charset="-122"/>
                <a:cs typeface="FangSong_GB2312" pitchFamily="34" charset="-120"/>
              </a:rPr>
              <a:t>累计区域与地标信息</a:t>
            </a:r>
            <a:endParaRPr lang="en-US" sz="1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700" dirty="0">
                <a:solidFill>
                  <a:srgbClr val="243850"/>
                </a:solidFill>
                <a:latin typeface="FangSong_GB2312" pitchFamily="34" charset="0"/>
                <a:ea typeface="FangSong_GB2312" pitchFamily="34" charset="-122"/>
                <a:cs typeface="FangSong_GB2312" pitchFamily="34" charset="-120"/>
              </a:rPr>
              <a:t>支持粗粒度路径规划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4393692" y="2414016"/>
            <a:ext cx="3401568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393692" y="2414016"/>
            <a:ext cx="22860" cy="347472"/>
          </a:xfrm>
          <a:prstGeom prst="rect">
            <a:avLst/>
          </a:prstGeom>
          <a:solidFill>
            <a:srgbClr val="D57D31"/>
          </a:solidFill>
          <a:ln w="12700">
            <a:solidFill>
              <a:srgbClr val="D57D3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485132" y="2423160"/>
            <a:ext cx="32278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30" dirty="0">
                <a:solidFill>
                  <a:srgbClr val="627995"/>
                </a:solidFill>
                <a:latin typeface="FangSong_GB2312" pitchFamily="34" charset="0"/>
                <a:ea typeface="FangSong_GB2312" pitchFamily="34" charset="-122"/>
                <a:cs typeface="FangSong_GB2312" pitchFamily="34" charset="-120"/>
              </a:rPr>
              <a:t>区域选择较清楚，相似对象仍难区分</a:t>
            </a:r>
            <a:endParaRPr lang="en-US" sz="1430" dirty="0"/>
          </a:p>
        </p:txBody>
      </p:sp>
      <p:sp>
        <p:nvSpPr>
          <p:cNvPr id="31" name="Shape 29"/>
          <p:cNvSpPr/>
          <p:nvPr/>
        </p:nvSpPr>
        <p:spPr>
          <a:xfrm>
            <a:off x="8147304" y="1170432"/>
            <a:ext cx="3657600" cy="1691640"/>
          </a:xfrm>
          <a:prstGeom prst="rect">
            <a:avLst/>
          </a:prstGeom>
          <a:solidFill>
            <a:srgbClr val="F1F4F8"/>
          </a:solidFill>
          <a:ln w="12700">
            <a:solidFill>
              <a:srgbClr val="F1F4F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147304" y="1170432"/>
            <a:ext cx="3657600" cy="0"/>
          </a:xfrm>
          <a:prstGeom prst="line">
            <a:avLst/>
          </a:prstGeom>
          <a:noFill/>
          <a:ln w="19050">
            <a:solidFill>
              <a:srgbClr val="D4DFED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275320" y="1289304"/>
            <a:ext cx="256032" cy="265176"/>
          </a:xfrm>
          <a:prstGeom prst="rect">
            <a:avLst/>
          </a:prstGeom>
          <a:solidFill>
            <a:srgbClr val="245CC0"/>
          </a:solidFill>
          <a:ln w="12700">
            <a:solidFill>
              <a:srgbClr val="245CC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275320" y="1289304"/>
            <a:ext cx="25603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</a:t>
            </a:r>
            <a:endParaRPr lang="en-US" sz="1900" dirty="0"/>
          </a:p>
        </p:txBody>
      </p:sp>
      <p:sp>
        <p:nvSpPr>
          <p:cNvPr id="35" name="Text 33"/>
          <p:cNvSpPr/>
          <p:nvPr/>
        </p:nvSpPr>
        <p:spPr>
          <a:xfrm>
            <a:off x="8641080" y="1271016"/>
            <a:ext cx="2990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20" dirty="0">
                <a:solidFill>
                  <a:srgbClr val="142B4A"/>
                </a:solidFill>
                <a:latin typeface="FangSong_GB2312" pitchFamily="34" charset="0"/>
                <a:ea typeface="FangSong_GB2312" pitchFamily="34" charset="-122"/>
                <a:cs typeface="FangSong_GB2312" pitchFamily="34" charset="-120"/>
              </a:rPr>
              <a:t>局部对象推理</a:t>
            </a:r>
            <a:endParaRPr lang="en-US" sz="2020" dirty="0"/>
          </a:p>
        </p:txBody>
      </p:sp>
      <p:sp>
        <p:nvSpPr>
          <p:cNvPr id="36" name="Text 34"/>
          <p:cNvSpPr/>
          <p:nvPr/>
        </p:nvSpPr>
        <p:spPr>
          <a:xfrm>
            <a:off x="8275320" y="1618488"/>
            <a:ext cx="34107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850" b="1" dirty="0">
                <a:solidFill>
                  <a:srgbClr val="245CC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Method C</a:t>
            </a:r>
            <a:endParaRPr lang="en-US" sz="1850" dirty="0"/>
          </a:p>
        </p:txBody>
      </p:sp>
      <p:sp>
        <p:nvSpPr>
          <p:cNvPr id="37" name="Text 35"/>
          <p:cNvSpPr/>
          <p:nvPr/>
        </p:nvSpPr>
        <p:spPr>
          <a:xfrm>
            <a:off x="8275320" y="1911096"/>
            <a:ext cx="3410712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dirty="0">
                <a:solidFill>
                  <a:srgbClr val="243850"/>
                </a:solidFill>
                <a:latin typeface="FangSong_GB2312" pitchFamily="34" charset="0"/>
                <a:ea typeface="FangSong_GB2312" pitchFamily="34" charset="-122"/>
                <a:cs typeface="FangSong_GB2312" pitchFamily="34" charset="-120"/>
              </a:rPr>
              <a:t>对象属性与空间关系</a:t>
            </a:r>
            <a:endParaRPr lang="en-US" sz="1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700" dirty="0">
                <a:solidFill>
                  <a:srgbClr val="243850"/>
                </a:solidFill>
                <a:latin typeface="FangSong_GB2312" pitchFamily="34" charset="0"/>
                <a:ea typeface="FangSong_GB2312" pitchFamily="34" charset="-122"/>
                <a:cs typeface="FangSong_GB2312" pitchFamily="34" charset="-120"/>
              </a:rPr>
              <a:t>支持近距离目标匹配</a:t>
            </a:r>
            <a:endParaRPr lang="en-US" sz="1700" dirty="0"/>
          </a:p>
        </p:txBody>
      </p:sp>
      <p:sp>
        <p:nvSpPr>
          <p:cNvPr id="38" name="Shape 36"/>
          <p:cNvSpPr/>
          <p:nvPr/>
        </p:nvSpPr>
        <p:spPr>
          <a:xfrm>
            <a:off x="8275320" y="2414016"/>
            <a:ext cx="3401568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275320" y="2414016"/>
            <a:ext cx="22860" cy="347472"/>
          </a:xfrm>
          <a:prstGeom prst="rect">
            <a:avLst/>
          </a:prstGeom>
          <a:solidFill>
            <a:srgbClr val="D57D31"/>
          </a:solidFill>
          <a:ln w="12700">
            <a:solidFill>
              <a:srgbClr val="D57D3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366760" y="2423160"/>
            <a:ext cx="32278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30" dirty="0">
                <a:solidFill>
                  <a:srgbClr val="627995"/>
                </a:solidFill>
                <a:latin typeface="FangSong_GB2312" pitchFamily="34" charset="0"/>
                <a:ea typeface="FangSong_GB2312" pitchFamily="34" charset="-122"/>
                <a:cs typeface="FangSong_GB2312" pitchFamily="34" charset="-120"/>
              </a:rPr>
              <a:t>对象关系较细致，长程方向感不足</a:t>
            </a:r>
            <a:endParaRPr lang="en-US" sz="1430" dirty="0"/>
          </a:p>
        </p:txBody>
      </p:sp>
      <p:sp>
        <p:nvSpPr>
          <p:cNvPr id="41" name="Shape 39"/>
          <p:cNvSpPr/>
          <p:nvPr/>
        </p:nvSpPr>
        <p:spPr>
          <a:xfrm>
            <a:off x="384048" y="3035808"/>
            <a:ext cx="3657600" cy="1691640"/>
          </a:xfrm>
          <a:prstGeom prst="rect">
            <a:avLst/>
          </a:prstGeom>
          <a:solidFill>
            <a:srgbClr val="F1F4F8"/>
          </a:solidFill>
          <a:ln w="12700">
            <a:solidFill>
              <a:srgbClr val="F1F4F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84048" y="3035808"/>
            <a:ext cx="3657600" cy="0"/>
          </a:xfrm>
          <a:prstGeom prst="line">
            <a:avLst/>
          </a:prstGeom>
          <a:noFill/>
          <a:ln w="19050">
            <a:solidFill>
              <a:srgbClr val="D4DFED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12064" y="3154680"/>
            <a:ext cx="256032" cy="265176"/>
          </a:xfrm>
          <a:prstGeom prst="rect">
            <a:avLst/>
          </a:prstGeom>
          <a:solidFill>
            <a:srgbClr val="245CC0"/>
          </a:solidFill>
          <a:ln w="12700">
            <a:solidFill>
              <a:srgbClr val="245CC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12064" y="3154680"/>
            <a:ext cx="25603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</a:t>
            </a:r>
            <a:endParaRPr lang="en-US" sz="1900" dirty="0"/>
          </a:p>
        </p:txBody>
      </p:sp>
      <p:sp>
        <p:nvSpPr>
          <p:cNvPr id="45" name="Text 43"/>
          <p:cNvSpPr/>
          <p:nvPr/>
        </p:nvSpPr>
        <p:spPr>
          <a:xfrm>
            <a:off x="877824" y="3136392"/>
            <a:ext cx="2990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20" dirty="0">
                <a:solidFill>
                  <a:srgbClr val="142B4A"/>
                </a:solidFill>
                <a:latin typeface="FangSong_GB2312" pitchFamily="34" charset="0"/>
                <a:ea typeface="FangSong_GB2312" pitchFamily="34" charset="-122"/>
                <a:cs typeface="FangSong_GB2312" pitchFamily="34" charset="-120"/>
              </a:rPr>
              <a:t>语言推理控制</a:t>
            </a:r>
            <a:endParaRPr lang="en-US" sz="2020" dirty="0"/>
          </a:p>
        </p:txBody>
      </p:sp>
      <p:sp>
        <p:nvSpPr>
          <p:cNvPr id="46" name="Text 44"/>
          <p:cNvSpPr/>
          <p:nvPr/>
        </p:nvSpPr>
        <p:spPr>
          <a:xfrm>
            <a:off x="512064" y="3483864"/>
            <a:ext cx="34107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850" b="1" dirty="0">
                <a:solidFill>
                  <a:srgbClr val="245CC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Method D</a:t>
            </a:r>
            <a:endParaRPr lang="en-US" sz="1850" dirty="0"/>
          </a:p>
        </p:txBody>
      </p:sp>
      <p:sp>
        <p:nvSpPr>
          <p:cNvPr id="47" name="Text 45"/>
          <p:cNvSpPr/>
          <p:nvPr/>
        </p:nvSpPr>
        <p:spPr>
          <a:xfrm>
            <a:off x="512064" y="3776472"/>
            <a:ext cx="3410712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dirty="0">
                <a:solidFill>
                  <a:srgbClr val="243850"/>
                </a:solidFill>
                <a:latin typeface="FangSong_GB2312" pitchFamily="34" charset="0"/>
                <a:ea typeface="FangSong_GB2312" pitchFamily="34" charset="-122"/>
                <a:cs typeface="FangSong_GB2312" pitchFamily="34" charset="-120"/>
              </a:rPr>
              <a:t>将观测转成文字证据</a:t>
            </a:r>
            <a:endParaRPr lang="en-US" sz="1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700" dirty="0">
                <a:solidFill>
                  <a:srgbClr val="243850"/>
                </a:solidFill>
                <a:latin typeface="FangSong_GB2312" pitchFamily="34" charset="0"/>
                <a:ea typeface="FangSong_GB2312" pitchFamily="34" charset="-122"/>
                <a:cs typeface="FangSong_GB2312" pitchFamily="34" charset="-120"/>
              </a:rPr>
              <a:t>按目标分阶段决策</a:t>
            </a:r>
            <a:endParaRPr lang="en-US" sz="1700" dirty="0"/>
          </a:p>
        </p:txBody>
      </p:sp>
      <p:sp>
        <p:nvSpPr>
          <p:cNvPr id="48" name="Shape 46"/>
          <p:cNvSpPr/>
          <p:nvPr/>
        </p:nvSpPr>
        <p:spPr>
          <a:xfrm>
            <a:off x="512064" y="4279392"/>
            <a:ext cx="3401568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12064" y="4279392"/>
            <a:ext cx="22860" cy="347472"/>
          </a:xfrm>
          <a:prstGeom prst="rect">
            <a:avLst/>
          </a:prstGeom>
          <a:solidFill>
            <a:srgbClr val="D57D31"/>
          </a:solidFill>
          <a:ln w="12700">
            <a:solidFill>
              <a:srgbClr val="D57D3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03504" y="4288536"/>
            <a:ext cx="32278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30" dirty="0">
                <a:solidFill>
                  <a:srgbClr val="627995"/>
                </a:solidFill>
                <a:latin typeface="FangSong_GB2312" pitchFamily="34" charset="0"/>
                <a:ea typeface="FangSong_GB2312" pitchFamily="34" charset="-122"/>
                <a:cs typeface="FangSong_GB2312" pitchFamily="34" charset="-120"/>
              </a:rPr>
              <a:t>描述错误会传播，中间状态须可核验</a:t>
            </a:r>
            <a:endParaRPr lang="en-US" sz="1430" dirty="0"/>
          </a:p>
        </p:txBody>
      </p:sp>
      <p:sp>
        <p:nvSpPr>
          <p:cNvPr id="51" name="Shape 49"/>
          <p:cNvSpPr/>
          <p:nvPr/>
        </p:nvSpPr>
        <p:spPr>
          <a:xfrm>
            <a:off x="4265676" y="3035808"/>
            <a:ext cx="3657600" cy="1691640"/>
          </a:xfrm>
          <a:prstGeom prst="rect">
            <a:avLst/>
          </a:prstGeom>
          <a:solidFill>
            <a:srgbClr val="F1F4F8"/>
          </a:solidFill>
          <a:ln w="12700">
            <a:solidFill>
              <a:srgbClr val="F1F4F8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265676" y="3035808"/>
            <a:ext cx="3657600" cy="0"/>
          </a:xfrm>
          <a:prstGeom prst="line">
            <a:avLst/>
          </a:prstGeom>
          <a:noFill/>
          <a:ln w="19050">
            <a:solidFill>
              <a:srgbClr val="D4DFED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393692" y="3154680"/>
            <a:ext cx="256032" cy="265176"/>
          </a:xfrm>
          <a:prstGeom prst="rect">
            <a:avLst/>
          </a:prstGeom>
          <a:solidFill>
            <a:srgbClr val="245CC0"/>
          </a:solidFill>
          <a:ln w="12700">
            <a:solidFill>
              <a:srgbClr val="245CC0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393692" y="3154680"/>
            <a:ext cx="25603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</a:t>
            </a:r>
            <a:endParaRPr lang="en-US" sz="1900" dirty="0"/>
          </a:p>
        </p:txBody>
      </p:sp>
      <p:sp>
        <p:nvSpPr>
          <p:cNvPr id="55" name="Text 53"/>
          <p:cNvSpPr/>
          <p:nvPr/>
        </p:nvSpPr>
        <p:spPr>
          <a:xfrm>
            <a:off x="4759452" y="3136392"/>
            <a:ext cx="2990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20" dirty="0">
                <a:solidFill>
                  <a:srgbClr val="142B4A"/>
                </a:solidFill>
                <a:latin typeface="FangSong_GB2312" pitchFamily="34" charset="0"/>
                <a:ea typeface="FangSong_GB2312" pitchFamily="34" charset="-122"/>
                <a:cs typeface="FangSong_GB2312" pitchFamily="34" charset="-120"/>
              </a:rPr>
              <a:t>跨视角视觉融合</a:t>
            </a:r>
            <a:endParaRPr lang="en-US" sz="2020" dirty="0"/>
          </a:p>
        </p:txBody>
      </p:sp>
      <p:sp>
        <p:nvSpPr>
          <p:cNvPr id="56" name="Text 54"/>
          <p:cNvSpPr/>
          <p:nvPr/>
        </p:nvSpPr>
        <p:spPr>
          <a:xfrm>
            <a:off x="4393692" y="3483864"/>
            <a:ext cx="34107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850" b="1" dirty="0">
                <a:solidFill>
                  <a:srgbClr val="245CC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Method E</a:t>
            </a:r>
            <a:endParaRPr lang="en-US" sz="1850" dirty="0"/>
          </a:p>
        </p:txBody>
      </p:sp>
      <p:sp>
        <p:nvSpPr>
          <p:cNvPr id="57" name="Text 55"/>
          <p:cNvSpPr/>
          <p:nvPr/>
        </p:nvSpPr>
        <p:spPr>
          <a:xfrm>
            <a:off x="4393692" y="3776472"/>
            <a:ext cx="3410712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dirty="0">
                <a:solidFill>
                  <a:srgbClr val="243850"/>
                </a:solidFill>
                <a:latin typeface="FangSong_GB2312" pitchFamily="34" charset="0"/>
                <a:ea typeface="FangSong_GB2312" pitchFamily="34" charset="-122"/>
                <a:cs typeface="FangSong_GB2312" pitchFamily="34" charset="-120"/>
              </a:rPr>
              <a:t>组合多视角观测</a:t>
            </a:r>
            <a:endParaRPr lang="en-US" sz="1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700" dirty="0">
                <a:solidFill>
                  <a:srgbClr val="243850"/>
                </a:solidFill>
                <a:latin typeface="FangSong_GB2312" pitchFamily="34" charset="0"/>
                <a:ea typeface="FangSong_GB2312" pitchFamily="34" charset="-122"/>
                <a:cs typeface="FangSong_GB2312" pitchFamily="34" charset="-120"/>
              </a:rPr>
              <a:t>补充被遮挡的线索</a:t>
            </a:r>
            <a:endParaRPr lang="en-US" sz="1700" dirty="0"/>
          </a:p>
        </p:txBody>
      </p:sp>
      <p:sp>
        <p:nvSpPr>
          <p:cNvPr id="58" name="Shape 56"/>
          <p:cNvSpPr/>
          <p:nvPr/>
        </p:nvSpPr>
        <p:spPr>
          <a:xfrm>
            <a:off x="4393692" y="4279392"/>
            <a:ext cx="3401568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393692" y="4279392"/>
            <a:ext cx="22860" cy="347472"/>
          </a:xfrm>
          <a:prstGeom prst="rect">
            <a:avLst/>
          </a:prstGeom>
          <a:solidFill>
            <a:srgbClr val="D57D31"/>
          </a:solidFill>
          <a:ln w="12700">
            <a:solidFill>
              <a:srgbClr val="D57D31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485132" y="4288536"/>
            <a:ext cx="32278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30" dirty="0">
                <a:solidFill>
                  <a:srgbClr val="627995"/>
                </a:solidFill>
                <a:latin typeface="FangSong_GB2312" pitchFamily="34" charset="0"/>
                <a:ea typeface="FangSong_GB2312" pitchFamily="34" charset="-122"/>
                <a:cs typeface="FangSong_GB2312" pitchFamily="34" charset="-120"/>
              </a:rPr>
              <a:t>观测信息较充分，时序一致性需要维护</a:t>
            </a:r>
            <a:endParaRPr lang="en-US" sz="1430" dirty="0"/>
          </a:p>
        </p:txBody>
      </p:sp>
      <p:sp>
        <p:nvSpPr>
          <p:cNvPr id="61" name="Shape 59"/>
          <p:cNvSpPr/>
          <p:nvPr/>
        </p:nvSpPr>
        <p:spPr>
          <a:xfrm>
            <a:off x="8147304" y="3035808"/>
            <a:ext cx="3657600" cy="1691640"/>
          </a:xfrm>
          <a:prstGeom prst="rect">
            <a:avLst/>
          </a:prstGeom>
          <a:solidFill>
            <a:srgbClr val="F1F4F8"/>
          </a:solidFill>
          <a:ln w="12700">
            <a:solidFill>
              <a:srgbClr val="F1F4F8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147304" y="3035808"/>
            <a:ext cx="3657600" cy="0"/>
          </a:xfrm>
          <a:prstGeom prst="line">
            <a:avLst/>
          </a:prstGeom>
          <a:noFill/>
          <a:ln w="19050">
            <a:solidFill>
              <a:srgbClr val="D4DFED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8275320" y="3154680"/>
            <a:ext cx="256032" cy="265176"/>
          </a:xfrm>
          <a:prstGeom prst="rect">
            <a:avLst/>
          </a:prstGeom>
          <a:solidFill>
            <a:srgbClr val="245CC0"/>
          </a:solidFill>
          <a:ln w="12700">
            <a:solidFill>
              <a:srgbClr val="245CC0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8275320" y="3154680"/>
            <a:ext cx="256032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</a:t>
            </a:r>
            <a:endParaRPr lang="en-US" sz="1900" dirty="0"/>
          </a:p>
        </p:txBody>
      </p:sp>
      <p:sp>
        <p:nvSpPr>
          <p:cNvPr id="65" name="Text 63"/>
          <p:cNvSpPr/>
          <p:nvPr/>
        </p:nvSpPr>
        <p:spPr>
          <a:xfrm>
            <a:off x="8641080" y="3136392"/>
            <a:ext cx="29900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20" dirty="0">
                <a:solidFill>
                  <a:srgbClr val="142B4A"/>
                </a:solidFill>
                <a:latin typeface="FangSong_GB2312" pitchFamily="34" charset="0"/>
                <a:ea typeface="FangSong_GB2312" pitchFamily="34" charset="-122"/>
                <a:cs typeface="FangSong_GB2312" pitchFamily="34" charset="-120"/>
              </a:rPr>
              <a:t>图结构记忆</a:t>
            </a:r>
            <a:endParaRPr lang="en-US" sz="2020" dirty="0"/>
          </a:p>
        </p:txBody>
      </p:sp>
      <p:sp>
        <p:nvSpPr>
          <p:cNvPr id="66" name="Text 64"/>
          <p:cNvSpPr/>
          <p:nvPr/>
        </p:nvSpPr>
        <p:spPr>
          <a:xfrm>
            <a:off x="8275320" y="3483864"/>
            <a:ext cx="34107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850" b="1" dirty="0">
                <a:solidFill>
                  <a:srgbClr val="245CC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Method F</a:t>
            </a:r>
            <a:endParaRPr lang="en-US" sz="1850" dirty="0"/>
          </a:p>
        </p:txBody>
      </p:sp>
      <p:sp>
        <p:nvSpPr>
          <p:cNvPr id="67" name="Text 65"/>
          <p:cNvSpPr/>
          <p:nvPr/>
        </p:nvSpPr>
        <p:spPr>
          <a:xfrm>
            <a:off x="8275320" y="3776472"/>
            <a:ext cx="3410712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dirty="0">
                <a:solidFill>
                  <a:srgbClr val="243850"/>
                </a:solidFill>
                <a:latin typeface="FangSong_GB2312" pitchFamily="34" charset="0"/>
                <a:ea typeface="FangSong_GB2312" pitchFamily="34" charset="-122"/>
                <a:cs typeface="FangSong_GB2312" pitchFamily="34" charset="-120"/>
              </a:rPr>
              <a:t>保存对象及其连接</a:t>
            </a:r>
            <a:endParaRPr lang="en-US" sz="17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700" dirty="0">
                <a:solidFill>
                  <a:srgbClr val="243850"/>
                </a:solidFill>
                <a:latin typeface="FangSong_GB2312" pitchFamily="34" charset="0"/>
                <a:ea typeface="FangSong_GB2312" pitchFamily="34" charset="-122"/>
                <a:cs typeface="FangSong_GB2312" pitchFamily="34" charset="-120"/>
              </a:rPr>
              <a:t>持续更新关系与状态</a:t>
            </a:r>
            <a:endParaRPr lang="en-US" sz="1700" dirty="0"/>
          </a:p>
        </p:txBody>
      </p:sp>
      <p:sp>
        <p:nvSpPr>
          <p:cNvPr id="68" name="Shape 66"/>
          <p:cNvSpPr/>
          <p:nvPr/>
        </p:nvSpPr>
        <p:spPr>
          <a:xfrm>
            <a:off x="8275320" y="4279392"/>
            <a:ext cx="3401568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8275320" y="4279392"/>
            <a:ext cx="22860" cy="347472"/>
          </a:xfrm>
          <a:prstGeom prst="rect">
            <a:avLst/>
          </a:prstGeom>
          <a:solidFill>
            <a:srgbClr val="D57D31"/>
          </a:solidFill>
          <a:ln w="12700">
            <a:solidFill>
              <a:srgbClr val="D57D31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366760" y="4288536"/>
            <a:ext cx="32278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430" dirty="0">
                <a:solidFill>
                  <a:srgbClr val="627995"/>
                </a:solidFill>
                <a:latin typeface="FangSong_GB2312" pitchFamily="34" charset="0"/>
                <a:ea typeface="FangSong_GB2312" pitchFamily="34" charset="-122"/>
                <a:cs typeface="FangSong_GB2312" pitchFamily="34" charset="-120"/>
              </a:rPr>
              <a:t>结构支持追溯，错误合并影响后续判断</a:t>
            </a:r>
            <a:endParaRPr lang="en-US" sz="1430" dirty="0"/>
          </a:p>
        </p:txBody>
      </p:sp>
      <p:sp>
        <p:nvSpPr>
          <p:cNvPr id="71" name="Text 69"/>
          <p:cNvSpPr/>
          <p:nvPr/>
        </p:nvSpPr>
        <p:spPr>
          <a:xfrm>
            <a:off x="384048" y="501091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100" b="1" dirty="0">
                <a:solidFill>
                  <a:srgbClr val="142B4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DemoNav </a:t>
            </a:r>
            <a:r>
              <a:rPr lang="en-US" sz="2100" b="1" dirty="0">
                <a:solidFill>
                  <a:srgbClr val="142B4A"/>
                </a:solidFill>
                <a:latin typeface="FangSong_GB2312" pitchFamily="34" charset="0"/>
                <a:ea typeface="FangSong_GB2312" pitchFamily="34" charset="-122"/>
                <a:cs typeface="FangSong_GB2312" pitchFamily="34" charset="-120"/>
              </a:rPr>
              <a:t>的示例定位</a:t>
            </a:r>
            <a:endParaRPr lang="en-US" sz="2100" dirty="0"/>
          </a:p>
        </p:txBody>
      </p:sp>
      <p:sp>
        <p:nvSpPr>
          <p:cNvPr id="72" name="Text 70"/>
          <p:cNvSpPr/>
          <p:nvPr/>
        </p:nvSpPr>
        <p:spPr>
          <a:xfrm>
            <a:off x="3291840" y="5047488"/>
            <a:ext cx="850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627995"/>
                </a:solidFill>
                <a:latin typeface="FangSong_GB2312" pitchFamily="34" charset="0"/>
                <a:ea typeface="FangSong_GB2312" pitchFamily="34" charset="-122"/>
                <a:cs typeface="FangSong_GB2312" pitchFamily="34" charset="-120"/>
              </a:rPr>
              <a:t>全局选区域，局部辨对象，阶段策略连接两个尺度</a:t>
            </a:r>
            <a:endParaRPr lang="en-US" sz="1800" dirty="0"/>
          </a:p>
        </p:txBody>
      </p:sp>
      <p:sp>
        <p:nvSpPr>
          <p:cNvPr id="73" name="Shape 71"/>
          <p:cNvSpPr/>
          <p:nvPr/>
        </p:nvSpPr>
        <p:spPr>
          <a:xfrm>
            <a:off x="384048" y="5458968"/>
            <a:ext cx="11420856" cy="786384"/>
          </a:xfrm>
          <a:prstGeom prst="rect">
            <a:avLst/>
          </a:prstGeom>
          <a:solidFill>
            <a:srgbClr val="EAF0FA"/>
          </a:solidFill>
          <a:ln w="12700">
            <a:solidFill>
              <a:srgbClr val="EAF0FA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530352" y="5541264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142B4A"/>
                </a:solidFill>
                <a:latin typeface="FangSong_GB2312" pitchFamily="34" charset="0"/>
                <a:ea typeface="FangSong_GB2312" pitchFamily="34" charset="-122"/>
                <a:cs typeface="FangSong_GB2312" pitchFamily="34" charset="-120"/>
              </a:rPr>
              <a:t>全局地图</a:t>
            </a:r>
            <a:endParaRPr lang="en-US" sz="2000" dirty="0"/>
          </a:p>
        </p:txBody>
      </p:sp>
      <p:sp>
        <p:nvSpPr>
          <p:cNvPr id="75" name="Text 73"/>
          <p:cNvSpPr/>
          <p:nvPr/>
        </p:nvSpPr>
        <p:spPr>
          <a:xfrm>
            <a:off x="530352" y="5888736"/>
            <a:ext cx="3017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710" dirty="0">
                <a:solidFill>
                  <a:srgbClr val="243850"/>
                </a:solidFill>
                <a:latin typeface="FangSong_GB2312" pitchFamily="34" charset="0"/>
                <a:ea typeface="FangSong_GB2312" pitchFamily="34" charset="-122"/>
                <a:cs typeface="FangSong_GB2312" pitchFamily="34" charset="-120"/>
              </a:rPr>
              <a:t>区域、方位与覆盖状态</a:t>
            </a:r>
            <a:endParaRPr lang="en-US" sz="1710" dirty="0"/>
          </a:p>
        </p:txBody>
      </p:sp>
      <p:sp>
        <p:nvSpPr>
          <p:cNvPr id="76" name="Text 74"/>
          <p:cNvSpPr/>
          <p:nvPr/>
        </p:nvSpPr>
        <p:spPr>
          <a:xfrm>
            <a:off x="4489704" y="5541264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142B4A"/>
                </a:solidFill>
                <a:latin typeface="FangSong_GB2312" pitchFamily="34" charset="0"/>
                <a:ea typeface="FangSong_GB2312" pitchFamily="34" charset="-122"/>
                <a:cs typeface="FangSong_GB2312" pitchFamily="34" charset="-120"/>
              </a:rPr>
              <a:t>局部对象图</a:t>
            </a:r>
            <a:endParaRPr lang="en-US" sz="2000" dirty="0"/>
          </a:p>
        </p:txBody>
      </p:sp>
      <p:sp>
        <p:nvSpPr>
          <p:cNvPr id="77" name="Text 75"/>
          <p:cNvSpPr/>
          <p:nvPr/>
        </p:nvSpPr>
        <p:spPr>
          <a:xfrm>
            <a:off x="4489704" y="5888736"/>
            <a:ext cx="3017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710" dirty="0">
                <a:solidFill>
                  <a:srgbClr val="243850"/>
                </a:solidFill>
                <a:latin typeface="FangSong_GB2312" pitchFamily="34" charset="0"/>
                <a:ea typeface="FangSong_GB2312" pitchFamily="34" charset="-122"/>
                <a:cs typeface="FangSong_GB2312" pitchFamily="34" charset="-120"/>
              </a:rPr>
              <a:t>对象属性、关系与置信度</a:t>
            </a:r>
            <a:endParaRPr lang="en-US" sz="1710" dirty="0"/>
          </a:p>
        </p:txBody>
      </p:sp>
      <p:sp>
        <p:nvSpPr>
          <p:cNvPr id="78" name="Text 76"/>
          <p:cNvSpPr/>
          <p:nvPr/>
        </p:nvSpPr>
        <p:spPr>
          <a:xfrm>
            <a:off x="8394192" y="5541264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00" b="1" dirty="0">
                <a:solidFill>
                  <a:srgbClr val="142B4A"/>
                </a:solidFill>
                <a:latin typeface="FangSong_GB2312" pitchFamily="34" charset="0"/>
                <a:ea typeface="FangSong_GB2312" pitchFamily="34" charset="-122"/>
                <a:cs typeface="FangSong_GB2312" pitchFamily="34" charset="-120"/>
              </a:rPr>
              <a:t>阶段策略</a:t>
            </a:r>
            <a:endParaRPr lang="en-US" sz="2000" dirty="0"/>
          </a:p>
        </p:txBody>
      </p:sp>
      <p:sp>
        <p:nvSpPr>
          <p:cNvPr id="79" name="Text 77"/>
          <p:cNvSpPr/>
          <p:nvPr/>
        </p:nvSpPr>
        <p:spPr>
          <a:xfrm>
            <a:off x="8394192" y="5888736"/>
            <a:ext cx="3017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710" dirty="0">
                <a:solidFill>
                  <a:srgbClr val="243850"/>
                </a:solidFill>
                <a:latin typeface="FangSong_GB2312" pitchFamily="34" charset="0"/>
                <a:ea typeface="FangSong_GB2312" pitchFamily="34" charset="-122"/>
                <a:cs typeface="FangSong_GB2312" pitchFamily="34" charset="-120"/>
              </a:rPr>
              <a:t>探索、匹配与停止条件</a:t>
            </a:r>
            <a:endParaRPr lang="en-US" sz="1710" dirty="0"/>
          </a:p>
        </p:txBody>
      </p:sp>
      <p:sp>
        <p:nvSpPr>
          <p:cNvPr id="80" name="Text 78"/>
          <p:cNvSpPr/>
          <p:nvPr/>
        </p:nvSpPr>
        <p:spPr>
          <a:xfrm>
            <a:off x="4096512" y="566928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400" dirty="0">
                <a:solidFill>
                  <a:srgbClr val="D57D3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+</a:t>
            </a:r>
            <a:endParaRPr lang="en-US" sz="2400" dirty="0"/>
          </a:p>
        </p:txBody>
      </p:sp>
      <p:sp>
        <p:nvSpPr>
          <p:cNvPr id="81" name="Text 79"/>
          <p:cNvSpPr/>
          <p:nvPr/>
        </p:nvSpPr>
        <p:spPr>
          <a:xfrm>
            <a:off x="8001000" y="566928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2400" dirty="0">
                <a:solidFill>
                  <a:srgbClr val="D57D3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+</a:t>
            </a:r>
            <a:endParaRPr lang="en-US" sz="2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a14="http://schemas.microsoft.com/office/drawing/2010/main" xmlns:m="http://schemas.openxmlformats.org/officeDocument/2006/math" xmlns:mc="http://schemas.openxmlformats.org/markup-compatibility/2006" mc:Ignorable="a14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13232"/>
          </a:xfrm>
          <a:prstGeom prst="rect">
            <a:avLst/>
          </a:prstGeom>
          <a:solidFill>
            <a:srgbClr val="142B4A"/>
          </a:solidFill>
          <a:ln w="12700">
            <a:solidFill>
              <a:srgbClr val="142B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65760" y="173736"/>
            <a:ext cx="41148" cy="374904"/>
          </a:xfrm>
          <a:prstGeom prst="rect">
            <a:avLst/>
          </a:prstGeom>
          <a:solidFill>
            <a:srgbClr val="D57D31"/>
          </a:solidFill>
          <a:ln w="12700">
            <a:solidFill>
              <a:srgbClr val="D57D3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30352" y="146304"/>
            <a:ext cx="9875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dirty="0">
                <a:solidFill>
                  <a:srgbClr val="FFFFFF"/>
                </a:solidFill>
                <a:latin typeface="FangSong_GB2312" pitchFamily="34" charset="0"/>
                <a:ea typeface="FangSong_GB2312" pitchFamily="34" charset="-122"/>
                <a:cs typeface="FangSong_GB2312" pitchFamily="34" charset="-120"/>
              </a:rPr>
              <a:t>技术机制  双尺度记忆与决策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0561320" y="219456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CDD8E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DemoNav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84048" y="6556248"/>
            <a:ext cx="11420856" cy="0"/>
          </a:xfrm>
          <a:prstGeom prst="line">
            <a:avLst/>
          </a:prstGeom>
          <a:noFill/>
          <a:ln w="7620">
            <a:solidFill>
              <a:srgbClr val="D4DFE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84048" y="6556248"/>
            <a:ext cx="512064" cy="0"/>
          </a:xfrm>
          <a:prstGeom prst="line">
            <a:avLst/>
          </a:prstGeom>
          <a:noFill/>
          <a:ln w="20320">
            <a:solidFill>
              <a:srgbClr val="142B4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96112" y="6556248"/>
            <a:ext cx="201168" cy="0"/>
          </a:xfrm>
          <a:prstGeom prst="line">
            <a:avLst/>
          </a:prstGeom>
          <a:noFill/>
          <a:ln w="20320">
            <a:solidFill>
              <a:srgbClr val="D57D3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27080" y="6629400"/>
            <a:ext cx="8778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62799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02 / 03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84048" y="804672"/>
            <a:ext cx="11420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50" dirty="0">
                <a:solidFill>
                  <a:srgbClr val="627995"/>
                </a:solidFill>
                <a:latin typeface="FangSong_GB2312" pitchFamily="34" charset="0"/>
                <a:ea typeface="FangSong_GB2312" pitchFamily="34" charset="-122"/>
                <a:cs typeface="FangSong_GB2312" pitchFamily="34" charset="-120"/>
              </a:rPr>
              <a:t>虚构机制示例：用输入、状态更新和输出解释一个核心模块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384048" y="1211580"/>
            <a:ext cx="32004" cy="210312"/>
          </a:xfrm>
          <a:prstGeom prst="rect">
            <a:avLst/>
          </a:prstGeom>
          <a:solidFill>
            <a:srgbClr val="D57D31"/>
          </a:solidFill>
          <a:ln w="12700">
            <a:solidFill>
              <a:srgbClr val="D57D3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1170432"/>
            <a:ext cx="1819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950" b="1" dirty="0">
                <a:solidFill>
                  <a:srgbClr val="142B4A"/>
                </a:solidFill>
                <a:latin typeface="FangSong_GB2312" pitchFamily="34" charset="0"/>
                <a:ea typeface="FangSong_GB2312" pitchFamily="34" charset="-122"/>
                <a:cs typeface="FangSong_GB2312" pitchFamily="34" charset="-120"/>
              </a:rPr>
              <a:t>输入</a:t>
            </a:r>
            <a:endParaRPr lang="en-US" sz="1950" dirty="0"/>
          </a:p>
        </p:txBody>
      </p:sp>
      <p:sp>
        <p:nvSpPr>
          <p:cNvPr id="13" name="Shape 11"/>
          <p:cNvSpPr/>
          <p:nvPr/>
        </p:nvSpPr>
        <p:spPr>
          <a:xfrm>
            <a:off x="2743200" y="1211580"/>
            <a:ext cx="32004" cy="210312"/>
          </a:xfrm>
          <a:prstGeom prst="rect">
            <a:avLst/>
          </a:prstGeom>
          <a:solidFill>
            <a:srgbClr val="D57D31"/>
          </a:solidFill>
          <a:ln w="12700">
            <a:solidFill>
              <a:srgbClr val="D57D3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862072" y="1170432"/>
            <a:ext cx="3035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950" b="1" dirty="0">
                <a:solidFill>
                  <a:srgbClr val="142B4A"/>
                </a:solidFill>
                <a:latin typeface="FangSong_GB2312" pitchFamily="34" charset="0"/>
                <a:ea typeface="FangSong_GB2312" pitchFamily="34" charset="-122"/>
                <a:cs typeface="FangSong_GB2312" pitchFamily="34" charset="-120"/>
              </a:rPr>
              <a:t>状态更新</a:t>
            </a:r>
            <a:endParaRPr lang="en-US" sz="1950" dirty="0"/>
          </a:p>
        </p:txBody>
      </p:sp>
      <p:sp>
        <p:nvSpPr>
          <p:cNvPr id="15" name="Shape 13"/>
          <p:cNvSpPr/>
          <p:nvPr/>
        </p:nvSpPr>
        <p:spPr>
          <a:xfrm>
            <a:off x="6355080" y="1211580"/>
            <a:ext cx="32004" cy="210312"/>
          </a:xfrm>
          <a:prstGeom prst="rect">
            <a:avLst/>
          </a:prstGeom>
          <a:solidFill>
            <a:srgbClr val="D57D31"/>
          </a:solidFill>
          <a:ln w="12700">
            <a:solidFill>
              <a:srgbClr val="D57D3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73952" y="1170432"/>
            <a:ext cx="23042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950" b="1" dirty="0">
                <a:solidFill>
                  <a:srgbClr val="142B4A"/>
                </a:solidFill>
                <a:latin typeface="FangSong_GB2312" pitchFamily="34" charset="0"/>
                <a:ea typeface="FangSong_GB2312" pitchFamily="34" charset="-122"/>
                <a:cs typeface="FangSong_GB2312" pitchFamily="34" charset="-120"/>
              </a:rPr>
              <a:t>匹配与决策</a:t>
            </a:r>
            <a:endParaRPr lang="en-US" sz="1950" dirty="0"/>
          </a:p>
        </p:txBody>
      </p:sp>
      <p:sp>
        <p:nvSpPr>
          <p:cNvPr id="17" name="Shape 15"/>
          <p:cNvSpPr/>
          <p:nvPr/>
        </p:nvSpPr>
        <p:spPr>
          <a:xfrm>
            <a:off x="9308592" y="1211580"/>
            <a:ext cx="32004" cy="210312"/>
          </a:xfrm>
          <a:prstGeom prst="rect">
            <a:avLst/>
          </a:prstGeom>
          <a:solidFill>
            <a:srgbClr val="D57D31"/>
          </a:solidFill>
          <a:ln w="12700">
            <a:solidFill>
              <a:srgbClr val="D57D3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427464" y="117043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950" b="1" dirty="0">
                <a:solidFill>
                  <a:srgbClr val="142B4A"/>
                </a:solidFill>
                <a:latin typeface="FangSong_GB2312" pitchFamily="34" charset="0"/>
                <a:ea typeface="FangSong_GB2312" pitchFamily="34" charset="-122"/>
                <a:cs typeface="FangSong_GB2312" pitchFamily="34" charset="-120"/>
              </a:rPr>
              <a:t>输出</a:t>
            </a:r>
            <a:endParaRPr lang="en-US" sz="1950" dirty="0"/>
          </a:p>
        </p:txBody>
      </p:sp>
      <p:sp>
        <p:nvSpPr>
          <p:cNvPr id="19" name="Shape 17"/>
          <p:cNvSpPr/>
          <p:nvPr/>
        </p:nvSpPr>
        <p:spPr>
          <a:xfrm>
            <a:off x="384048" y="1719072"/>
            <a:ext cx="1920240" cy="1344168"/>
          </a:xfrm>
          <a:prstGeom prst="rect">
            <a:avLst/>
          </a:prstGeom>
          <a:solidFill>
            <a:srgbClr val="F1F4F8"/>
          </a:solidFill>
          <a:ln w="12700">
            <a:solidFill>
              <a:srgbClr val="F1F4F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21208" y="1837944"/>
            <a:ext cx="1645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50" b="1" dirty="0">
                <a:solidFill>
                  <a:srgbClr val="142B4A"/>
                </a:solidFill>
                <a:latin typeface="FangSong_GB2312" pitchFamily="34" charset="0"/>
                <a:ea typeface="FangSong_GB2312" pitchFamily="34" charset="-122"/>
                <a:cs typeface="FangSong_GB2312" pitchFamily="34" charset="-120"/>
              </a:rPr>
              <a:t>语言目标</a:t>
            </a:r>
            <a:endParaRPr lang="en-US" sz="2050" dirty="0"/>
          </a:p>
        </p:txBody>
      </p:sp>
      <p:sp>
        <p:nvSpPr>
          <p:cNvPr id="21" name="Shape 19"/>
          <p:cNvSpPr/>
          <p:nvPr/>
        </p:nvSpPr>
        <p:spPr>
          <a:xfrm>
            <a:off x="521208" y="2267712"/>
            <a:ext cx="1645920" cy="0"/>
          </a:xfrm>
          <a:prstGeom prst="line">
            <a:avLst/>
          </a:prstGeom>
          <a:noFill/>
          <a:ln w="9525">
            <a:solidFill>
              <a:srgbClr val="D4DFE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21208" y="2414016"/>
            <a:ext cx="1645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750" dirty="0">
                <a:solidFill>
                  <a:srgbClr val="243850"/>
                </a:solidFill>
                <a:latin typeface="FangSong_GB2312" pitchFamily="34" charset="0"/>
                <a:ea typeface="FangSong_GB2312" pitchFamily="34" charset="-122"/>
                <a:cs typeface="FangSong_GB2312" pitchFamily="34" charset="-120"/>
              </a:rPr>
              <a:t>对象类别</a:t>
            </a:r>
            <a:endParaRPr lang="en-US" sz="1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750" dirty="0">
                <a:solidFill>
                  <a:srgbClr val="243850"/>
                </a:solidFill>
                <a:latin typeface="FangSong_GB2312" pitchFamily="34" charset="0"/>
                <a:ea typeface="FangSong_GB2312" pitchFamily="34" charset="-122"/>
                <a:cs typeface="FangSong_GB2312" pitchFamily="34" charset="-120"/>
              </a:rPr>
              <a:t>属性与关系</a:t>
            </a:r>
            <a:endParaRPr lang="en-US" sz="1750" dirty="0"/>
          </a:p>
        </p:txBody>
      </p:sp>
      <p:sp>
        <p:nvSpPr>
          <p:cNvPr id="23" name="Shape 21"/>
          <p:cNvSpPr/>
          <p:nvPr/>
        </p:nvSpPr>
        <p:spPr>
          <a:xfrm>
            <a:off x="384048" y="3328416"/>
            <a:ext cx="1920240" cy="1344168"/>
          </a:xfrm>
          <a:prstGeom prst="rect">
            <a:avLst/>
          </a:prstGeom>
          <a:solidFill>
            <a:srgbClr val="F1F4F8"/>
          </a:solidFill>
          <a:ln w="12700">
            <a:solidFill>
              <a:srgbClr val="F1F4F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21208" y="3447288"/>
            <a:ext cx="1645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50" b="1" dirty="0">
                <a:solidFill>
                  <a:srgbClr val="142B4A"/>
                </a:solidFill>
                <a:latin typeface="FangSong_GB2312" pitchFamily="34" charset="0"/>
                <a:ea typeface="FangSong_GB2312" pitchFamily="34" charset="-122"/>
                <a:cs typeface="FangSong_GB2312" pitchFamily="34" charset="-120"/>
              </a:rPr>
              <a:t>视觉观测</a:t>
            </a:r>
            <a:endParaRPr lang="en-US" sz="2050" dirty="0"/>
          </a:p>
        </p:txBody>
      </p:sp>
      <p:sp>
        <p:nvSpPr>
          <p:cNvPr id="25" name="Shape 23"/>
          <p:cNvSpPr/>
          <p:nvPr/>
        </p:nvSpPr>
        <p:spPr>
          <a:xfrm>
            <a:off x="521208" y="3877056"/>
            <a:ext cx="1645920" cy="0"/>
          </a:xfrm>
          <a:prstGeom prst="line">
            <a:avLst/>
          </a:prstGeom>
          <a:noFill/>
          <a:ln w="9525">
            <a:solidFill>
              <a:srgbClr val="D4DFE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21208" y="4023360"/>
            <a:ext cx="164592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750" dirty="0">
                <a:solidFill>
                  <a:srgbClr val="243850"/>
                </a:solidFill>
                <a:latin typeface="FangSong_GB2312" pitchFamily="34" charset="0"/>
                <a:ea typeface="FangSong_GB2312" pitchFamily="34" charset="-122"/>
                <a:cs typeface="FangSong_GB2312" pitchFamily="34" charset="-120"/>
              </a:rPr>
              <a:t>当前图像</a:t>
            </a:r>
            <a:endParaRPr lang="en-US" sz="1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750" dirty="0">
                <a:solidFill>
                  <a:srgbClr val="243850"/>
                </a:solidFill>
                <a:latin typeface="FangSong_GB2312" pitchFamily="34" charset="0"/>
                <a:ea typeface="FangSong_GB2312" pitchFamily="34" charset="-122"/>
                <a:cs typeface="FangSong_GB2312" pitchFamily="34" charset="-120"/>
              </a:rPr>
              <a:t>位置与朝向</a:t>
            </a:r>
            <a:endParaRPr lang="en-US" sz="1750" dirty="0"/>
          </a:p>
        </p:txBody>
      </p:sp>
      <p:sp>
        <p:nvSpPr>
          <p:cNvPr id="27" name="Shape 25"/>
          <p:cNvSpPr/>
          <p:nvPr/>
        </p:nvSpPr>
        <p:spPr>
          <a:xfrm>
            <a:off x="2743200" y="1719072"/>
            <a:ext cx="3136392" cy="1344168"/>
          </a:xfrm>
          <a:prstGeom prst="rect">
            <a:avLst/>
          </a:prstGeom>
          <a:solidFill>
            <a:srgbClr val="EAF0FA"/>
          </a:solidFill>
          <a:ln w="12700">
            <a:solidFill>
              <a:srgbClr val="EAF0F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880360" y="1837944"/>
            <a:ext cx="286207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50" b="1" dirty="0">
                <a:solidFill>
                  <a:srgbClr val="142B4A"/>
                </a:solidFill>
                <a:latin typeface="FangSong_GB2312" pitchFamily="34" charset="0"/>
                <a:ea typeface="FangSong_GB2312" pitchFamily="34" charset="-122"/>
                <a:cs typeface="FangSong_GB2312" pitchFamily="34" charset="-120"/>
              </a:rPr>
              <a:t>全局地图</a:t>
            </a:r>
            <a:endParaRPr lang="en-US" sz="2050" dirty="0"/>
          </a:p>
        </p:txBody>
      </p:sp>
      <p:sp>
        <p:nvSpPr>
          <p:cNvPr id="29" name="Shape 27"/>
          <p:cNvSpPr/>
          <p:nvPr/>
        </p:nvSpPr>
        <p:spPr>
          <a:xfrm>
            <a:off x="2880360" y="2267712"/>
            <a:ext cx="2862072" cy="0"/>
          </a:xfrm>
          <a:prstGeom prst="line">
            <a:avLst/>
          </a:prstGeom>
          <a:noFill/>
          <a:ln w="9525">
            <a:solidFill>
              <a:srgbClr val="D4DFE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880360" y="2414016"/>
            <a:ext cx="286207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750" dirty="0">
                <a:solidFill>
                  <a:srgbClr val="243850"/>
                </a:solidFill>
                <a:latin typeface="FangSong_GB2312" pitchFamily="34" charset="0"/>
                <a:ea typeface="FangSong_GB2312" pitchFamily="34" charset="-122"/>
                <a:cs typeface="FangSong_GB2312" pitchFamily="34" charset="-120"/>
              </a:rPr>
              <a:t>定位候选区域</a:t>
            </a:r>
            <a:endParaRPr lang="en-US" sz="1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750" dirty="0">
                <a:solidFill>
                  <a:srgbClr val="243850"/>
                </a:solidFill>
                <a:latin typeface="FangSong_GB2312" pitchFamily="34" charset="0"/>
                <a:ea typeface="FangSong_GB2312" pitchFamily="34" charset="-122"/>
                <a:cs typeface="FangSong_GB2312" pitchFamily="34" charset="-120"/>
              </a:rPr>
              <a:t>更新覆盖与访问状态</a:t>
            </a:r>
            <a:endParaRPr lang="en-US" sz="1750" dirty="0"/>
          </a:p>
        </p:txBody>
      </p:sp>
      <p:sp>
        <p:nvSpPr>
          <p:cNvPr id="31" name="Shape 29"/>
          <p:cNvSpPr/>
          <p:nvPr/>
        </p:nvSpPr>
        <p:spPr>
          <a:xfrm>
            <a:off x="2743200" y="3328416"/>
            <a:ext cx="3136392" cy="1344168"/>
          </a:xfrm>
          <a:prstGeom prst="rect">
            <a:avLst/>
          </a:prstGeom>
          <a:solidFill>
            <a:srgbClr val="EAF0FA"/>
          </a:solidFill>
          <a:ln w="12700">
            <a:solidFill>
              <a:srgbClr val="EAF0F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880360" y="3447288"/>
            <a:ext cx="286207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50" b="1" dirty="0">
                <a:solidFill>
                  <a:srgbClr val="142B4A"/>
                </a:solidFill>
                <a:latin typeface="FangSong_GB2312" pitchFamily="34" charset="0"/>
                <a:ea typeface="FangSong_GB2312" pitchFamily="34" charset="-122"/>
                <a:cs typeface="FangSong_GB2312" pitchFamily="34" charset="-120"/>
              </a:rPr>
              <a:t>局部对象图</a:t>
            </a:r>
            <a:endParaRPr lang="en-US" sz="2050" dirty="0"/>
          </a:p>
        </p:txBody>
      </p:sp>
      <p:sp>
        <p:nvSpPr>
          <p:cNvPr id="33" name="Shape 31"/>
          <p:cNvSpPr/>
          <p:nvPr/>
        </p:nvSpPr>
        <p:spPr>
          <a:xfrm>
            <a:off x="2880360" y="3877056"/>
            <a:ext cx="2862072" cy="0"/>
          </a:xfrm>
          <a:prstGeom prst="line">
            <a:avLst/>
          </a:prstGeom>
          <a:noFill/>
          <a:ln w="9525">
            <a:solidFill>
              <a:srgbClr val="D4DFE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880360" y="4023360"/>
            <a:ext cx="286207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750" dirty="0">
                <a:solidFill>
                  <a:srgbClr val="243850"/>
                </a:solidFill>
                <a:latin typeface="FangSong_GB2312" pitchFamily="34" charset="0"/>
                <a:ea typeface="FangSong_GB2312" pitchFamily="34" charset="-122"/>
                <a:cs typeface="FangSong_GB2312" pitchFamily="34" charset="-120"/>
              </a:rPr>
              <a:t>关联对象与属性</a:t>
            </a:r>
            <a:endParaRPr lang="en-US" sz="1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750" dirty="0">
                <a:solidFill>
                  <a:srgbClr val="243850"/>
                </a:solidFill>
                <a:latin typeface="FangSong_GB2312" pitchFamily="34" charset="0"/>
                <a:ea typeface="FangSong_GB2312" pitchFamily="34" charset="-122"/>
                <a:cs typeface="FangSong_GB2312" pitchFamily="34" charset="-120"/>
              </a:rPr>
              <a:t>更新空间关系与置信度</a:t>
            </a:r>
            <a:endParaRPr lang="en-US" sz="1750" dirty="0"/>
          </a:p>
        </p:txBody>
      </p:sp>
      <p:sp>
        <p:nvSpPr>
          <p:cNvPr id="35" name="Shape 33"/>
          <p:cNvSpPr/>
          <p:nvPr/>
        </p:nvSpPr>
        <p:spPr>
          <a:xfrm>
            <a:off x="6355080" y="1719072"/>
            <a:ext cx="2468880" cy="2953512"/>
          </a:xfrm>
          <a:prstGeom prst="rect">
            <a:avLst/>
          </a:prstGeom>
          <a:solidFill>
            <a:srgbClr val="F1F4F8"/>
          </a:solidFill>
          <a:ln w="12700">
            <a:solidFill>
              <a:srgbClr val="F1F4F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92240" y="1837944"/>
            <a:ext cx="21945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50" b="1" dirty="0">
                <a:solidFill>
                  <a:srgbClr val="142B4A"/>
                </a:solidFill>
                <a:latin typeface="FangSong_GB2312" pitchFamily="34" charset="0"/>
                <a:ea typeface="FangSong_GB2312" pitchFamily="34" charset="-122"/>
                <a:cs typeface="FangSong_GB2312" pitchFamily="34" charset="-120"/>
              </a:rPr>
              <a:t>目标匹配</a:t>
            </a:r>
            <a:endParaRPr lang="en-US" sz="2050" dirty="0"/>
          </a:p>
        </p:txBody>
      </p:sp>
      <p:sp>
        <p:nvSpPr>
          <p:cNvPr id="37" name="Shape 35"/>
          <p:cNvSpPr/>
          <p:nvPr/>
        </p:nvSpPr>
        <p:spPr>
          <a:xfrm>
            <a:off x="6492240" y="2267712"/>
            <a:ext cx="2194560" cy="0"/>
          </a:xfrm>
          <a:prstGeom prst="line">
            <a:avLst/>
          </a:prstGeom>
          <a:noFill/>
          <a:ln w="9525">
            <a:solidFill>
              <a:srgbClr val="D4DFE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92240" y="2414016"/>
            <a:ext cx="2194560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750" dirty="0">
                <a:solidFill>
                  <a:srgbClr val="243850"/>
                </a:solidFill>
                <a:latin typeface="FangSong_GB2312" pitchFamily="34" charset="0"/>
                <a:ea typeface="FangSong_GB2312" pitchFamily="34" charset="-122"/>
                <a:cs typeface="FangSong_GB2312" pitchFamily="34" charset="-120"/>
              </a:rPr>
              <a:t>全局分数</a:t>
            </a:r>
            <a:endParaRPr lang="en-US" sz="1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750" dirty="0">
                <a:solidFill>
                  <a:srgbClr val="243850"/>
                </a:solidFill>
                <a:latin typeface="FangSong_GB2312" pitchFamily="34" charset="0"/>
                <a:ea typeface="FangSong_GB2312" pitchFamily="34" charset="-122"/>
                <a:cs typeface="FangSong_GB2312" pitchFamily="34" charset="-120"/>
              </a:rPr>
              <a:t>区域是否相关</a:t>
            </a:r>
            <a:endParaRPr lang="en-US" sz="1750" dirty="0"/>
          </a:p>
          <a:p>
            <a:pPr indent="0" marL="0">
              <a:lnSpc>
                <a:spcPct val="100000"/>
              </a:lnSpc>
              <a:buNone/>
            </a:pPr>
            <a:endParaRPr lang="en-US" sz="1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750" dirty="0">
                <a:solidFill>
                  <a:srgbClr val="243850"/>
                </a:solidFill>
                <a:latin typeface="FangSong_GB2312" pitchFamily="34" charset="0"/>
                <a:ea typeface="FangSong_GB2312" pitchFamily="34" charset="-122"/>
                <a:cs typeface="FangSong_GB2312" pitchFamily="34" charset="-120"/>
              </a:rPr>
              <a:t>局部分数</a:t>
            </a:r>
            <a:endParaRPr lang="en-US" sz="1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750" dirty="0">
                <a:solidFill>
                  <a:srgbClr val="243850"/>
                </a:solidFill>
                <a:latin typeface="FangSong_GB2312" pitchFamily="34" charset="0"/>
                <a:ea typeface="FangSong_GB2312" pitchFamily="34" charset="-122"/>
                <a:cs typeface="FangSong_GB2312" pitchFamily="34" charset="-120"/>
              </a:rPr>
              <a:t>对象是否吻合</a:t>
            </a:r>
            <a:endParaRPr lang="en-US" sz="1750" dirty="0"/>
          </a:p>
          <a:p>
            <a:pPr indent="0" marL="0">
              <a:lnSpc>
                <a:spcPct val="100000"/>
              </a:lnSpc>
              <a:buNone/>
            </a:pPr>
            <a:endParaRPr lang="en-US" sz="1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750" dirty="0">
                <a:solidFill>
                  <a:srgbClr val="243850"/>
                </a:solidFill>
                <a:latin typeface="FangSong_GB2312" pitchFamily="34" charset="0"/>
                <a:ea typeface="FangSong_GB2312" pitchFamily="34" charset="-122"/>
                <a:cs typeface="FangSong_GB2312" pitchFamily="34" charset="-120"/>
              </a:rPr>
              <a:t>融合后选择目标</a:t>
            </a:r>
            <a:endParaRPr lang="en-US" sz="1750" dirty="0"/>
          </a:p>
        </p:txBody>
      </p:sp>
      <p:sp>
        <p:nvSpPr>
          <p:cNvPr id="39" name="Shape 37"/>
          <p:cNvSpPr/>
          <p:nvPr/>
        </p:nvSpPr>
        <p:spPr>
          <a:xfrm>
            <a:off x="9308592" y="1719072"/>
            <a:ext cx="2496312" cy="2953512"/>
          </a:xfrm>
          <a:prstGeom prst="rect">
            <a:avLst/>
          </a:prstGeom>
          <a:solidFill>
            <a:srgbClr val="F1F4F8"/>
          </a:solidFill>
          <a:ln w="12700">
            <a:solidFill>
              <a:srgbClr val="F1F4F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445752" y="1837944"/>
            <a:ext cx="2221992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050" b="1" dirty="0">
                <a:solidFill>
                  <a:srgbClr val="142B4A"/>
                </a:solidFill>
                <a:latin typeface="FangSong_GB2312" pitchFamily="34" charset="0"/>
                <a:ea typeface="FangSong_GB2312" pitchFamily="34" charset="-122"/>
                <a:cs typeface="FangSong_GB2312" pitchFamily="34" charset="-120"/>
              </a:rPr>
              <a:t>动作与终止</a:t>
            </a:r>
            <a:endParaRPr lang="en-US" sz="2050" dirty="0"/>
          </a:p>
        </p:txBody>
      </p:sp>
      <p:sp>
        <p:nvSpPr>
          <p:cNvPr id="41" name="Shape 39"/>
          <p:cNvSpPr/>
          <p:nvPr/>
        </p:nvSpPr>
        <p:spPr>
          <a:xfrm>
            <a:off x="9445752" y="2267712"/>
            <a:ext cx="2221992" cy="0"/>
          </a:xfrm>
          <a:prstGeom prst="line">
            <a:avLst/>
          </a:prstGeom>
          <a:noFill/>
          <a:ln w="9525">
            <a:solidFill>
              <a:srgbClr val="D4DFED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445752" y="2414016"/>
            <a:ext cx="2221992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750" dirty="0">
                <a:solidFill>
                  <a:srgbClr val="243850"/>
                </a:solidFill>
                <a:latin typeface="FangSong_GB2312" pitchFamily="34" charset="0"/>
                <a:ea typeface="FangSong_GB2312" pitchFamily="34" charset="-122"/>
                <a:cs typeface="FangSong_GB2312" pitchFamily="34" charset="-120"/>
              </a:rPr>
              <a:t>相关区域未覆盖</a:t>
            </a:r>
            <a:endParaRPr lang="en-US" sz="1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750" dirty="0">
                <a:solidFill>
                  <a:srgbClr val="243850"/>
                </a:solidFill>
                <a:latin typeface="FangSong_GB2312" pitchFamily="34" charset="0"/>
                <a:ea typeface="FangSong_GB2312" pitchFamily="34" charset="-122"/>
                <a:cs typeface="FangSong_GB2312" pitchFamily="34" charset="-120"/>
              </a:rPr>
              <a:t>继续探索</a:t>
            </a:r>
            <a:endParaRPr lang="en-US" sz="1750" dirty="0"/>
          </a:p>
          <a:p>
            <a:pPr indent="0" marL="0">
              <a:lnSpc>
                <a:spcPct val="100000"/>
              </a:lnSpc>
              <a:buNone/>
            </a:pPr>
            <a:endParaRPr lang="en-US" sz="1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750" dirty="0">
                <a:solidFill>
                  <a:srgbClr val="243850"/>
                </a:solidFill>
                <a:latin typeface="FangSong_GB2312" pitchFamily="34" charset="0"/>
                <a:ea typeface="FangSong_GB2312" pitchFamily="34" charset="-122"/>
                <a:cs typeface="FangSong_GB2312" pitchFamily="34" charset="-120"/>
              </a:rPr>
              <a:t>候选对象不确定</a:t>
            </a:r>
            <a:endParaRPr lang="en-US" sz="1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750" dirty="0">
                <a:solidFill>
                  <a:srgbClr val="243850"/>
                </a:solidFill>
                <a:latin typeface="FangSong_GB2312" pitchFamily="34" charset="0"/>
                <a:ea typeface="FangSong_GB2312" pitchFamily="34" charset="-122"/>
                <a:cs typeface="FangSong_GB2312" pitchFamily="34" charset="-120"/>
              </a:rPr>
              <a:t>补充观察</a:t>
            </a:r>
            <a:endParaRPr lang="en-US" sz="1750" dirty="0"/>
          </a:p>
          <a:p>
            <a:pPr indent="0" marL="0">
              <a:lnSpc>
                <a:spcPct val="100000"/>
              </a:lnSpc>
              <a:buNone/>
            </a:pPr>
            <a:endParaRPr lang="en-US" sz="1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750" dirty="0">
                <a:solidFill>
                  <a:srgbClr val="243850"/>
                </a:solidFill>
                <a:latin typeface="FangSong_GB2312" pitchFamily="34" charset="0"/>
                <a:ea typeface="FangSong_GB2312" pitchFamily="34" charset="-122"/>
                <a:cs typeface="FangSong_GB2312" pitchFamily="34" charset="-120"/>
              </a:rPr>
              <a:t>证据满足条件</a:t>
            </a:r>
            <a:endParaRPr lang="en-US" sz="17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750" dirty="0">
                <a:solidFill>
                  <a:srgbClr val="243850"/>
                </a:solidFill>
                <a:latin typeface="FangSong_GB2312" pitchFamily="34" charset="0"/>
                <a:ea typeface="FangSong_GB2312" pitchFamily="34" charset="-122"/>
                <a:cs typeface="FangSong_GB2312" pitchFamily="34" charset="-120"/>
              </a:rPr>
              <a:t>输出停止动作</a:t>
            </a:r>
            <a:endParaRPr lang="en-US" sz="1750" dirty="0"/>
          </a:p>
        </p:txBody>
      </p:sp>
      <p:sp>
        <p:nvSpPr>
          <p:cNvPr id="43" name="Shape 41"/>
          <p:cNvSpPr/>
          <p:nvPr/>
        </p:nvSpPr>
        <p:spPr>
          <a:xfrm>
            <a:off x="2304288" y="2391156"/>
            <a:ext cx="438912" cy="0"/>
          </a:xfrm>
          <a:prstGeom prst="line">
            <a:avLst/>
          </a:prstGeom>
          <a:noFill/>
          <a:ln w="19050">
            <a:solidFill>
              <a:srgbClr val="245CC0"/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2304288" y="4000500"/>
            <a:ext cx="438912" cy="0"/>
          </a:xfrm>
          <a:prstGeom prst="line">
            <a:avLst/>
          </a:prstGeom>
          <a:noFill/>
          <a:ln w="19050">
            <a:solidFill>
              <a:srgbClr val="245CC0"/>
            </a:solidFill>
            <a:prstDash val="solid"/>
            <a:tailEnd type="triangle"/>
          </a:ln>
        </p:spPr>
      </p:sp>
      <p:sp>
        <p:nvSpPr>
          <p:cNvPr id="45" name="Shape 43"/>
          <p:cNvSpPr/>
          <p:nvPr/>
        </p:nvSpPr>
        <p:spPr>
          <a:xfrm>
            <a:off x="5879592" y="2391156"/>
            <a:ext cx="475488" cy="0"/>
          </a:xfrm>
          <a:prstGeom prst="line">
            <a:avLst/>
          </a:prstGeom>
          <a:noFill/>
          <a:ln w="19050">
            <a:solidFill>
              <a:srgbClr val="245CC0"/>
            </a:solidFill>
            <a:prstDash val="solid"/>
            <a:tailEnd type="triangle"/>
          </a:ln>
        </p:spPr>
      </p:sp>
      <p:sp>
        <p:nvSpPr>
          <p:cNvPr id="46" name="Shape 44"/>
          <p:cNvSpPr/>
          <p:nvPr/>
        </p:nvSpPr>
        <p:spPr>
          <a:xfrm>
            <a:off x="5879592" y="4000500"/>
            <a:ext cx="475488" cy="0"/>
          </a:xfrm>
          <a:prstGeom prst="line">
            <a:avLst/>
          </a:prstGeom>
          <a:noFill/>
          <a:ln w="19050">
            <a:solidFill>
              <a:srgbClr val="245CC0"/>
            </a:solidFill>
            <a:prstDash val="solid"/>
            <a:tailEnd type="triangle"/>
          </a:ln>
        </p:spPr>
      </p:sp>
      <p:sp>
        <p:nvSpPr>
          <p:cNvPr id="47" name="Shape 45"/>
          <p:cNvSpPr/>
          <p:nvPr/>
        </p:nvSpPr>
        <p:spPr>
          <a:xfrm>
            <a:off x="8823960" y="3195828"/>
            <a:ext cx="484632" cy="0"/>
          </a:xfrm>
          <a:prstGeom prst="line">
            <a:avLst/>
          </a:prstGeom>
          <a:noFill/>
          <a:ln w="19050">
            <a:solidFill>
              <a:srgbClr val="245CC0"/>
            </a:solidFill>
            <a:prstDash val="solid"/>
            <a:tailEnd type="triangle"/>
          </a:ln>
        </p:spPr>
      </p:sp>
      <p:sp>
        <p:nvSpPr>
          <p:cNvPr id="48" name="Shape 46"/>
          <p:cNvSpPr/>
          <p:nvPr/>
        </p:nvSpPr>
        <p:spPr>
          <a:xfrm>
            <a:off x="4311396" y="3063240"/>
            <a:ext cx="0" cy="265176"/>
          </a:xfrm>
          <a:prstGeom prst="line">
            <a:avLst/>
          </a:prstGeom>
          <a:noFill/>
          <a:ln w="17780">
            <a:solidFill>
              <a:srgbClr val="D57D31"/>
            </a:solidFill>
            <a:prstDash val="solid"/>
            <a:tailEnd type="triangle"/>
          </a:ln>
        </p:spPr>
      </p:sp>
      <p:sp>
        <p:nvSpPr>
          <p:cNvPr id="49" name="Shape 47"/>
          <p:cNvSpPr/>
          <p:nvPr/>
        </p:nvSpPr>
        <p:spPr>
          <a:xfrm>
            <a:off x="384048" y="5029200"/>
            <a:ext cx="11420856" cy="1234440"/>
          </a:xfrm>
          <a:prstGeom prst="rect">
            <a:avLst/>
          </a:prstGeom>
          <a:solidFill>
            <a:srgbClr val="EAF0FA"/>
          </a:solidFill>
          <a:ln w="12700">
            <a:solidFill>
              <a:srgbClr val="EAF0FA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48640" y="5175504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100" b="1" dirty="0">
                <a:solidFill>
                  <a:srgbClr val="142B4A"/>
                </a:solidFill>
                <a:latin typeface="FangSong_GB2312" pitchFamily="34" charset="0"/>
                <a:ea typeface="FangSong_GB2312" pitchFamily="34" charset="-122"/>
                <a:cs typeface="FangSong_GB2312" pitchFamily="34" charset="-120"/>
              </a:rPr>
              <a:t>融合评分</a:t>
            </a:r>
            <a:endParaRPr lang="en-US" sz="2100" dirty="0"/>
          </a:p>
        </p:txBody>
      </p:sp>
      <p:sp>
        <p:nvSpPr>
          <p:cNvPr id="51" name="Text 49"/>
          <p:cNvSpPr/>
          <p:nvPr/>
        </p:nvSpPr>
        <p:spPr>
          <a:xfrm>
            <a:off x="2779776" y="5138928"/>
            <a:ext cx="8732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  <a:defRPr lang="en-US" sz="2500" dirty="0">
                <a:solidFill>
                  <a:srgbClr val="142B4A"/>
                </a:solidFill>
                <a:latin typeface="Times New Roman"/>
                <a:ea typeface="Times New Roman"/>
                <a:cs typeface="Times New Roman"/>
              </a:defRPr>
            </a:pPr>
            <a14:m>
              <m:oMathPara>
                <m:oMathParaPr>
                  <m:jc m:val="center"/>
                </m:oMathParaPr>
                <m:oMath>
                  <m:r>
                    <a:rPr lang="en-US" sz="2500" dirty="0">
                      <a:solidFill>
                        <a:srgbClr val="142B4A"/>
                      </a:solidFill>
                      <a:latin typeface="Times New Roman"/>
                      <a:ea typeface="Times New Roman"/>
                      <a:cs typeface="Times New Roman"/>
                    </a:rPr>
                    <m:t>S</m:t>
                  </m:r>
                  <m:r>
                    <m:rPr>
                      <m:sty m:val="p"/>
                    </m:rPr>
                    <a:rPr lang="en-US" sz="2500" dirty="0">
                      <a:solidFill>
                        <a:srgbClr val="142B4A"/>
                      </a:solidFill>
                      <a:latin typeface="Times New Roman"/>
                      <a:ea typeface="Times New Roman"/>
                      <a:cs typeface="Times New Roman"/>
                    </a:rPr>
                    <m:t>=</m:t>
                  </m:r>
                  <m:r>
                    <a:rPr lang="en-US" sz="2500" dirty="0">
                      <a:solidFill>
                        <a:srgbClr val="142B4A"/>
                      </a:solidFill>
                      <a:latin typeface="Times New Roman"/>
                      <a:ea typeface="Times New Roman"/>
                      <a:cs typeface="Times New Roman"/>
                    </a:rPr>
                    <m:t>α</m:t>
                  </m:r>
                  <m:sSub>
                    <m:e>
                      <m:r>
                        <a:rPr lang="en-US" sz="2500" dirty="0">
                          <a:solidFill>
                            <a:srgbClr val="142B4A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m:t>S</m:t>
                      </m:r>
                    </m:e>
                    <m:sub>
                      <m:r>
                        <m:rPr>
                          <m:sty m:val="p"/>
                        </m:rPr>
                        <a:rPr lang="en-US" sz="2500" dirty="0">
                          <a:solidFill>
                            <a:srgbClr val="142B4A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m:t>g</m:t>
                      </m:r>
                      <m:r>
                        <m:rPr>
                          <m:sty m:val="p"/>
                        </m:rPr>
                        <a:rPr lang="en-US" sz="2500" dirty="0">
                          <a:solidFill>
                            <a:srgbClr val="142B4A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m:t>l</m:t>
                      </m:r>
                      <m:r>
                        <m:rPr>
                          <m:sty m:val="p"/>
                        </m:rPr>
                        <a:rPr lang="en-US" sz="2500" dirty="0">
                          <a:solidFill>
                            <a:srgbClr val="142B4A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m:t>o</m:t>
                      </m:r>
                      <m:r>
                        <m:rPr>
                          <m:sty m:val="p"/>
                        </m:rPr>
                        <a:rPr lang="en-US" sz="2500" dirty="0">
                          <a:solidFill>
                            <a:srgbClr val="142B4A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m:t>b</m:t>
                      </m:r>
                      <m:r>
                        <m:rPr>
                          <m:sty m:val="p"/>
                        </m:rPr>
                        <a:rPr lang="en-US" sz="2500" dirty="0">
                          <a:solidFill>
                            <a:srgbClr val="142B4A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m:t>a</m:t>
                      </m:r>
                      <m:r>
                        <m:rPr>
                          <m:sty m:val="p"/>
                        </m:rPr>
                        <a:rPr lang="en-US" sz="2500" dirty="0">
                          <a:solidFill>
                            <a:srgbClr val="142B4A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m:t>l</m:t>
                      </m:r>
                    </m:sub>
                  </m:sSub>
                  <m:r>
                    <m:rPr>
                      <m:sty m:val="p"/>
                    </m:rPr>
                    <a:rPr lang="en-US" sz="2500" dirty="0">
                      <a:solidFill>
                        <a:srgbClr val="142B4A"/>
                      </a:solidFill>
                      <a:latin typeface="Times New Roman"/>
                      <a:ea typeface="Times New Roman"/>
                      <a:cs typeface="Times New Roman"/>
                    </a:rPr>
                    <m:t>+</m:t>
                  </m:r>
                  <m:d>
                    <m:dPr>
                      <m:begChr m:val="("/>
                      <m:endChr m:val=")"/>
                      <m:sepChr m:val=""/>
                      <m:grow/>
                      <m:ctrlPr>
                        <a:rPr lang="en-US" sz="2500" dirty="0">
                          <a:solidFill>
                            <a:srgbClr val="142B4A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</m:ctrlPr>
                    </m:dPr>
                    <m:e>
                      <m:r>
                        <a:rPr lang="en-US" sz="2500" dirty="0">
                          <a:solidFill>
                            <a:srgbClr val="142B4A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m:t>1</m:t>
                      </m:r>
                      <m:r>
                        <m:rPr>
                          <m:sty m:val="p"/>
                        </m:rPr>
                        <a:rPr lang="en-US" sz="2500" dirty="0">
                          <a:solidFill>
                            <a:srgbClr val="142B4A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m:t>−</m:t>
                      </m:r>
                      <m:r>
                        <a:rPr lang="en-US" sz="2500" dirty="0">
                          <a:solidFill>
                            <a:srgbClr val="142B4A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m:t>α</m:t>
                      </m:r>
                    </m:e>
                  </m:d>
                  <m:sSub>
                    <m:e>
                      <m:r>
                        <a:rPr lang="en-US" sz="2500" dirty="0">
                          <a:solidFill>
                            <a:srgbClr val="142B4A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m:t>S</m:t>
                      </m:r>
                    </m:e>
                    <m:sub>
                      <m:r>
                        <m:rPr>
                          <m:sty m:val="p"/>
                        </m:rPr>
                        <a:rPr lang="en-US" sz="2500" dirty="0">
                          <a:solidFill>
                            <a:srgbClr val="142B4A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m:t>l</m:t>
                      </m:r>
                      <m:r>
                        <m:rPr>
                          <m:sty m:val="p"/>
                        </m:rPr>
                        <a:rPr lang="en-US" sz="2500" dirty="0">
                          <a:solidFill>
                            <a:srgbClr val="142B4A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m:t>o</m:t>
                      </m:r>
                      <m:r>
                        <m:rPr>
                          <m:sty m:val="p"/>
                        </m:rPr>
                        <a:rPr lang="en-US" sz="2500" dirty="0">
                          <a:solidFill>
                            <a:srgbClr val="142B4A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m:t>c</m:t>
                      </m:r>
                      <m:r>
                        <m:rPr>
                          <m:sty m:val="p"/>
                        </m:rPr>
                        <a:rPr lang="en-US" sz="2500" dirty="0">
                          <a:solidFill>
                            <a:srgbClr val="142B4A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m:t>a</m:t>
                      </m:r>
                      <m:r>
                        <m:rPr>
                          <m:sty m:val="p"/>
                        </m:rPr>
                        <a:rPr lang="en-US" sz="2500" dirty="0">
                          <a:solidFill>
                            <a:srgbClr val="142B4A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m:t>l</m:t>
                      </m:r>
                    </m:sub>
                  </m:sSub>
                </m:oMath>
              </m:oMathPara>
            </a14:m>
            <a:endParaRPr lang="en-US" sz="2500" dirty="0">
              <a:solidFill>
                <a:srgbClr val="142B4A"/>
              </a:solidFill>
              <a:latin typeface="Times New Roman"/>
              <a:ea typeface="Times New Roman"/>
              <a:cs typeface="Times New Roman"/>
            </a:endParaRPr>
          </a:p>
        </p:txBody>
      </p:sp>
      <p:sp>
        <p:nvSpPr>
          <p:cNvPr id="52" name="Text 50"/>
          <p:cNvSpPr/>
          <p:nvPr/>
        </p:nvSpPr>
        <p:spPr>
          <a:xfrm>
            <a:off x="557784" y="5806440"/>
            <a:ext cx="110459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243850"/>
                </a:solidFill>
                <a:latin typeface="FangSong_GB2312" pitchFamily="34" charset="0"/>
                <a:ea typeface="FangSong_GB2312" pitchFamily="34" charset="-122"/>
                <a:cs typeface="FangSong_GB2312" pitchFamily="34" charset="-120"/>
              </a:rPr>
              <a:t>权重控制两个尺度的贡献。真实汇报只展示解释核心机制所必需的公式。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13232"/>
          </a:xfrm>
          <a:prstGeom prst="rect">
            <a:avLst/>
          </a:prstGeom>
          <a:solidFill>
            <a:srgbClr val="142B4A"/>
          </a:solidFill>
          <a:ln w="12700">
            <a:solidFill>
              <a:srgbClr val="142B4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65760" y="173736"/>
            <a:ext cx="41148" cy="374904"/>
          </a:xfrm>
          <a:prstGeom prst="rect">
            <a:avLst/>
          </a:prstGeom>
          <a:solidFill>
            <a:srgbClr val="D57D31"/>
          </a:solidFill>
          <a:ln w="12700">
            <a:solidFill>
              <a:srgbClr val="D57D3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30352" y="146304"/>
            <a:ext cx="9875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700" dirty="0">
                <a:solidFill>
                  <a:srgbClr val="FFFFFF"/>
                </a:solidFill>
                <a:latin typeface="FangSong_GB2312" pitchFamily="34" charset="0"/>
                <a:ea typeface="FangSong_GB2312" pitchFamily="34" charset="-122"/>
                <a:cs typeface="FangSong_GB2312" pitchFamily="34" charset="-120"/>
              </a:rPr>
              <a:t>实验结果  主结果与消融证据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10561320" y="219456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CDD8E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DemoNav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84048" y="6556248"/>
            <a:ext cx="11420856" cy="0"/>
          </a:xfrm>
          <a:prstGeom prst="line">
            <a:avLst/>
          </a:prstGeom>
          <a:noFill/>
          <a:ln w="7620">
            <a:solidFill>
              <a:srgbClr val="D4DFE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84048" y="6556248"/>
            <a:ext cx="512064" cy="0"/>
          </a:xfrm>
          <a:prstGeom prst="line">
            <a:avLst/>
          </a:prstGeom>
          <a:noFill/>
          <a:ln w="20320">
            <a:solidFill>
              <a:srgbClr val="142B4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96112" y="6556248"/>
            <a:ext cx="201168" cy="0"/>
          </a:xfrm>
          <a:prstGeom prst="line">
            <a:avLst/>
          </a:prstGeom>
          <a:noFill/>
          <a:ln w="20320">
            <a:solidFill>
              <a:srgbClr val="D57D3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27080" y="6629400"/>
            <a:ext cx="8778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62799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03 / 03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84048" y="804672"/>
            <a:ext cx="11420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550" dirty="0">
                <a:solidFill>
                  <a:srgbClr val="627995"/>
                </a:solidFill>
                <a:latin typeface="FangSong_GB2312" pitchFamily="34" charset="0"/>
                <a:ea typeface="FangSong_GB2312" pitchFamily="34" charset="-122"/>
                <a:cs typeface="FangSong_GB2312" pitchFamily="34" charset="-120"/>
              </a:rPr>
              <a:t>以下方法、指标和数值全部为虚构数据，仅用于演示可编辑表格与图表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384048" y="1211580"/>
            <a:ext cx="32004" cy="210312"/>
          </a:xfrm>
          <a:prstGeom prst="rect">
            <a:avLst/>
          </a:prstGeom>
          <a:solidFill>
            <a:srgbClr val="D57D31"/>
          </a:solidFill>
          <a:ln w="12700">
            <a:solidFill>
              <a:srgbClr val="D57D3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1170432"/>
            <a:ext cx="5404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950" b="1" dirty="0">
                <a:solidFill>
                  <a:srgbClr val="142B4A"/>
                </a:solidFill>
                <a:latin typeface="FangSong_GB2312" pitchFamily="34" charset="0"/>
                <a:ea typeface="FangSong_GB2312" pitchFamily="34" charset="-122"/>
                <a:cs typeface="FangSong_GB2312" pitchFamily="34" charset="-120"/>
              </a:rPr>
              <a:t>主结果：同时保留效果与成本</a:t>
            </a:r>
            <a:endParaRPr lang="en-US" sz="1950" dirty="0"/>
          </a:p>
        </p:txBody>
      </p:sp>
      <p:sp>
        <p:nvSpPr>
          <p:cNvPr id="13" name="Shape 11"/>
          <p:cNvSpPr/>
          <p:nvPr/>
        </p:nvSpPr>
        <p:spPr>
          <a:xfrm>
            <a:off x="6236208" y="1211580"/>
            <a:ext cx="32004" cy="210312"/>
          </a:xfrm>
          <a:prstGeom prst="rect">
            <a:avLst/>
          </a:prstGeom>
          <a:solidFill>
            <a:srgbClr val="D57D31"/>
          </a:solidFill>
          <a:ln w="12700">
            <a:solidFill>
              <a:srgbClr val="D57D3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55080" y="1170432"/>
            <a:ext cx="5440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950" b="1" dirty="0">
                <a:solidFill>
                  <a:srgbClr val="142B4A"/>
                </a:solidFill>
                <a:latin typeface="FangSong_GB2312" pitchFamily="34" charset="0"/>
                <a:ea typeface="FangSong_GB2312" pitchFamily="34" charset="-122"/>
                <a:cs typeface="FangSong_GB2312" pitchFamily="34" charset="-120"/>
              </a:rPr>
              <a:t>消融结果：解释模块贡献</a:t>
            </a:r>
            <a:endParaRPr lang="en-US" sz="195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4048" y="1719072"/>
          <a:ext cx="5522976" cy="2852928"/>
        </p:xfrm>
        <a:graphic>
          <a:graphicData uri="http://schemas.openxmlformats.org/drawingml/2006/table">
            <a:tbl>
              <a:tblPr/>
              <a:tblGrid>
                <a:gridCol w="2176272"/>
                <a:gridCol w="1097280"/>
                <a:gridCol w="1133856"/>
                <a:gridCol w="1115568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50" b="1" dirty="0">
                          <a:solidFill>
                            <a:srgbClr val="FFFFFF"/>
                          </a:solidFill>
                          <a:latin typeface="FangSong_GB2312" pitchFamily="34" charset="0"/>
                          <a:ea typeface="FangSong_GB2312" pitchFamily="34" charset="-122"/>
                          <a:cs typeface="FangSong_GB2312" pitchFamily="34" charset="-120"/>
                        </a:rPr>
                        <a:t>方法</a:t>
                      </a:r>
                      <a:endParaRPr lang="en-US" sz="18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109728" marR="91440" marT="82296" marB="82296" anchor="ctr">
                    <a:lnL w="6350" cap="flat" cmpd="sng" algn="ctr">
                      <a:solidFill>
                        <a:srgbClr val="D4D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B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5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SR (%)</a:t>
                      </a:r>
                      <a:endParaRPr lang="en-US" sz="18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109728" marR="91440" marT="82296" marB="82296" anchor="ctr">
                    <a:lnL w="6350" cap="flat" cmpd="sng" algn="ctr">
                      <a:solidFill>
                        <a:srgbClr val="D4D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B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5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SPL (%)</a:t>
                      </a:r>
                      <a:endParaRPr lang="en-US" sz="18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109728" marR="91440" marT="82296" marB="82296" anchor="ctr">
                    <a:lnL w="6350" cap="flat" cmpd="sng" algn="ctr">
                      <a:solidFill>
                        <a:srgbClr val="D4D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B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5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Time (s)</a:t>
                      </a:r>
                      <a:endParaRPr lang="en-US" sz="18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109728" marR="91440" marT="82296" marB="82296" anchor="ctr">
                    <a:lnL w="6350" cap="flat" cmpd="sng" algn="ctr">
                      <a:solidFill>
                        <a:srgbClr val="D4D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B4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50" dirty="0">
                          <a:solidFill>
                            <a:srgbClr val="24385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Baseline A</a:t>
                      </a:r>
                      <a:endParaRPr lang="en-US" sz="18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109728" marR="91440" marT="82296" marB="82296" anchor="ctr">
                    <a:lnL w="6350" cap="flat" cmpd="sng" algn="ctr">
                      <a:solidFill>
                        <a:srgbClr val="D4D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50" dirty="0">
                          <a:solidFill>
                            <a:srgbClr val="24385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32.0</a:t>
                      </a:r>
                      <a:endParaRPr lang="en-US" sz="18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109728" marR="91440" marT="82296" marB="82296" anchor="ctr">
                    <a:lnL w="6350" cap="flat" cmpd="sng" algn="ctr">
                      <a:solidFill>
                        <a:srgbClr val="D4D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50" dirty="0">
                          <a:solidFill>
                            <a:srgbClr val="24385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25.8</a:t>
                      </a:r>
                      <a:endParaRPr lang="en-US" sz="18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109728" marR="91440" marT="82296" marB="82296" anchor="ctr">
                    <a:lnL w="6350" cap="flat" cmpd="sng" algn="ctr">
                      <a:solidFill>
                        <a:srgbClr val="D4D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50" dirty="0">
                          <a:solidFill>
                            <a:srgbClr val="24385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8.4</a:t>
                      </a:r>
                      <a:endParaRPr lang="en-US" sz="18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109728" marR="91440" marT="82296" marB="82296" anchor="ctr">
                    <a:lnL w="6350" cap="flat" cmpd="sng" algn="ctr">
                      <a:solidFill>
                        <a:srgbClr val="D4D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50" dirty="0">
                          <a:solidFill>
                            <a:srgbClr val="24385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Baseline B</a:t>
                      </a:r>
                      <a:endParaRPr lang="en-US" sz="18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109728" marR="91440" marT="82296" marB="82296" anchor="ctr">
                    <a:lnL w="6350" cap="flat" cmpd="sng" algn="ctr">
                      <a:solidFill>
                        <a:srgbClr val="D4D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50" dirty="0">
                          <a:solidFill>
                            <a:srgbClr val="24385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38.5</a:t>
                      </a:r>
                      <a:endParaRPr lang="en-US" sz="18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109728" marR="91440" marT="82296" marB="82296" anchor="ctr">
                    <a:lnL w="6350" cap="flat" cmpd="sng" algn="ctr">
                      <a:solidFill>
                        <a:srgbClr val="D4D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50" dirty="0">
                          <a:solidFill>
                            <a:srgbClr val="24385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30.7</a:t>
                      </a:r>
                      <a:endParaRPr lang="en-US" sz="18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109728" marR="91440" marT="82296" marB="82296" anchor="ctr">
                    <a:lnL w="6350" cap="flat" cmpd="sng" algn="ctr">
                      <a:solidFill>
                        <a:srgbClr val="D4D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50" dirty="0">
                          <a:solidFill>
                            <a:srgbClr val="24385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10.1</a:t>
                      </a:r>
                      <a:endParaRPr lang="en-US" sz="18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109728" marR="91440" marT="82296" marB="82296" anchor="ctr">
                    <a:lnL w="6350" cap="flat" cmpd="sng" algn="ctr">
                      <a:solidFill>
                        <a:srgbClr val="D4D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50" dirty="0">
                          <a:solidFill>
                            <a:srgbClr val="24385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Global only</a:t>
                      </a:r>
                      <a:endParaRPr lang="en-US" sz="18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109728" marR="91440" marT="82296" marB="82296" anchor="ctr">
                    <a:lnL w="6350" cap="flat" cmpd="sng" algn="ctr">
                      <a:solidFill>
                        <a:srgbClr val="D4D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50" dirty="0">
                          <a:solidFill>
                            <a:srgbClr val="24385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41.2</a:t>
                      </a:r>
                      <a:endParaRPr lang="en-US" sz="18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109728" marR="91440" marT="82296" marB="82296" anchor="ctr">
                    <a:lnL w="6350" cap="flat" cmpd="sng" algn="ctr">
                      <a:solidFill>
                        <a:srgbClr val="D4D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50" dirty="0">
                          <a:solidFill>
                            <a:srgbClr val="24385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32.4</a:t>
                      </a:r>
                      <a:endParaRPr lang="en-US" sz="18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109728" marR="91440" marT="82296" marB="82296" anchor="ctr">
                    <a:lnL w="6350" cap="flat" cmpd="sng" algn="ctr">
                      <a:solidFill>
                        <a:srgbClr val="D4D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50" dirty="0">
                          <a:solidFill>
                            <a:srgbClr val="24385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9.3</a:t>
                      </a:r>
                      <a:endParaRPr lang="en-US" sz="18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109728" marR="91440" marT="82296" marB="82296" anchor="ctr">
                    <a:lnL w="6350" cap="flat" cmpd="sng" algn="ctr">
                      <a:solidFill>
                        <a:srgbClr val="D4D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50" dirty="0">
                          <a:solidFill>
                            <a:srgbClr val="24385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Local only</a:t>
                      </a:r>
                      <a:endParaRPr lang="en-US" sz="18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109728" marR="91440" marT="82296" marB="82296" anchor="ctr">
                    <a:lnL w="6350" cap="flat" cmpd="sng" algn="ctr">
                      <a:solidFill>
                        <a:srgbClr val="D4D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50" dirty="0">
                          <a:solidFill>
                            <a:srgbClr val="24385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43.6</a:t>
                      </a:r>
                      <a:endParaRPr lang="en-US" sz="18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109728" marR="91440" marT="82296" marB="82296" anchor="ctr">
                    <a:lnL w="6350" cap="flat" cmpd="sng" algn="ctr">
                      <a:solidFill>
                        <a:srgbClr val="D4D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50" dirty="0">
                          <a:solidFill>
                            <a:srgbClr val="24385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34.1</a:t>
                      </a:r>
                      <a:endParaRPr lang="en-US" sz="18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109728" marR="91440" marT="82296" marB="82296" anchor="ctr">
                    <a:lnL w="6350" cap="flat" cmpd="sng" algn="ctr">
                      <a:solidFill>
                        <a:srgbClr val="D4D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50" dirty="0">
                          <a:solidFill>
                            <a:srgbClr val="24385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10.7</a:t>
                      </a:r>
                      <a:endParaRPr lang="en-US" sz="18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109728" marR="91440" marT="82296" marB="82296" anchor="ctr">
                    <a:lnL w="6350" cap="flat" cmpd="sng" algn="ctr">
                      <a:solidFill>
                        <a:srgbClr val="D4D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50" b="1" dirty="0">
                          <a:solidFill>
                            <a:srgbClr val="245CC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DemoNav</a:t>
                      </a:r>
                      <a:endParaRPr lang="en-US" sz="18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109728" marR="91440" marT="82296" marB="82296" anchor="ctr">
                    <a:lnL w="6350" cap="flat" cmpd="sng" algn="ctr">
                      <a:solidFill>
                        <a:srgbClr val="D4D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50" b="1" dirty="0">
                          <a:solidFill>
                            <a:srgbClr val="245CC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50.8</a:t>
                      </a:r>
                      <a:endParaRPr lang="en-US" sz="18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109728" marR="91440" marT="82296" marB="82296" anchor="ctr">
                    <a:lnL w="6350" cap="flat" cmpd="sng" algn="ctr">
                      <a:solidFill>
                        <a:srgbClr val="D4D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50" b="1" dirty="0">
                          <a:solidFill>
                            <a:srgbClr val="245CC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40.9</a:t>
                      </a:r>
                      <a:endParaRPr lang="en-US" sz="18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109728" marR="91440" marT="82296" marB="82296" anchor="ctr">
                    <a:lnL w="6350" cap="flat" cmpd="sng" algn="ctr">
                      <a:solidFill>
                        <a:srgbClr val="D4D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50" b="1" dirty="0">
                          <a:solidFill>
                            <a:srgbClr val="245CC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11.2</a:t>
                      </a:r>
                      <a:endParaRPr lang="en-US" sz="185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109728" marR="91440" marT="82296" marB="82296" anchor="ctr">
                    <a:lnL w="6350" cap="flat" cmpd="sng" algn="ctr">
                      <a:solidFill>
                        <a:srgbClr val="D4D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4D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4D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4DF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0FA"/>
                    </a:solidFill>
                  </a:tcPr>
                </a:tc>
              </a:tr>
            </a:tbl>
          </a:graphicData>
        </a:graphic>
      </p:graphicFrame>
      <p:sp>
        <p:nvSpPr>
          <p:cNvPr id="16" name="Text 13"/>
          <p:cNvSpPr/>
          <p:nvPr/>
        </p:nvSpPr>
        <p:spPr>
          <a:xfrm>
            <a:off x="393192" y="4700016"/>
            <a:ext cx="5504688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62799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SR</a:t>
            </a:r>
            <a:r>
              <a:rPr lang="en-US" sz="1600" dirty="0">
                <a:solidFill>
                  <a:srgbClr val="627995"/>
                </a:solidFill>
                <a:latin typeface="FangSong_GB2312" pitchFamily="34" charset="0"/>
                <a:ea typeface="FangSong_GB2312" pitchFamily="34" charset="-122"/>
                <a:cs typeface="FangSong_GB2312" pitchFamily="34" charset="-120"/>
              </a:rPr>
              <a:t>：成功率   </a:t>
            </a:r>
            <a:r>
              <a:rPr lang="en-US" sz="1600" dirty="0">
                <a:solidFill>
                  <a:srgbClr val="62799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SPL</a:t>
            </a:r>
            <a:r>
              <a:rPr lang="en-US" sz="1600" dirty="0">
                <a:solidFill>
                  <a:srgbClr val="627995"/>
                </a:solidFill>
                <a:latin typeface="FangSong_GB2312" pitchFamily="34" charset="0"/>
                <a:ea typeface="FangSong_GB2312" pitchFamily="34" charset="-122"/>
                <a:cs typeface="FangSong_GB2312" pitchFamily="34" charset="-120"/>
              </a:rPr>
              <a:t>：按路径长度加权的成功率</a:t>
            </a:r>
            <a:endParaRPr lang="en-US" sz="1600" dirty="0"/>
          </a:p>
        </p:txBody>
      </p:sp>
      <p:graphicFrame>
        <p:nvGraphicFramePr>
          <p:cNvPr id="17" name="Chart 0" descr=""/>
          <p:cNvGraphicFramePr/>
          <p:nvPr/>
        </p:nvGraphicFramePr>
        <p:xfrm>
          <a:off x="6236208" y="1673352"/>
          <a:ext cx="5559552" cy="331012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8" name="Shape 14"/>
          <p:cNvSpPr/>
          <p:nvPr/>
        </p:nvSpPr>
        <p:spPr>
          <a:xfrm>
            <a:off x="384048" y="5248656"/>
            <a:ext cx="5522976" cy="1005840"/>
          </a:xfrm>
          <a:prstGeom prst="rect">
            <a:avLst/>
          </a:prstGeom>
          <a:solidFill>
            <a:srgbClr val="EAF0FA"/>
          </a:solidFill>
          <a:ln w="12700">
            <a:solidFill>
              <a:srgbClr val="EAF0FA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236208" y="5248656"/>
            <a:ext cx="5559552" cy="1005840"/>
          </a:xfrm>
          <a:prstGeom prst="rect">
            <a:avLst/>
          </a:prstGeom>
          <a:solidFill>
            <a:srgbClr val="F1F4F8"/>
          </a:solidFill>
          <a:ln w="12700">
            <a:solidFill>
              <a:srgbClr val="F1F4F8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557784" y="5358384"/>
            <a:ext cx="28346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245CC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+12.3 </a:t>
            </a:r>
            <a:r>
              <a:rPr lang="en-US" sz="2400" b="1" dirty="0">
                <a:solidFill>
                  <a:srgbClr val="245CC0"/>
                </a:solidFill>
                <a:latin typeface="FangSong_GB2312" pitchFamily="34" charset="0"/>
                <a:ea typeface="FangSong_GB2312" pitchFamily="34" charset="-122"/>
                <a:cs typeface="FangSong_GB2312" pitchFamily="34" charset="-120"/>
              </a:rPr>
              <a:t>个百分点</a:t>
            </a:r>
            <a:endParaRPr lang="en-US" sz="2400" dirty="0"/>
          </a:p>
        </p:txBody>
      </p:sp>
      <p:sp>
        <p:nvSpPr>
          <p:cNvPr id="21" name="Text 17"/>
          <p:cNvSpPr/>
          <p:nvPr/>
        </p:nvSpPr>
        <p:spPr>
          <a:xfrm>
            <a:off x="557784" y="5833872"/>
            <a:ext cx="5184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dirty="0">
                <a:solidFill>
                  <a:srgbClr val="24385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DemoNav </a:t>
            </a:r>
            <a:r>
              <a:rPr lang="en-US" sz="1700" dirty="0">
                <a:solidFill>
                  <a:srgbClr val="243850"/>
                </a:solidFill>
                <a:latin typeface="FangSong_GB2312" pitchFamily="34" charset="0"/>
                <a:ea typeface="FangSong_GB2312" pitchFamily="34" charset="-122"/>
                <a:cs typeface="FangSong_GB2312" pitchFamily="34" charset="-120"/>
              </a:rPr>
              <a:t>相对 </a:t>
            </a:r>
            <a:r>
              <a:rPr lang="en-US" sz="1700" dirty="0">
                <a:solidFill>
                  <a:srgbClr val="24385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Baseline B </a:t>
            </a:r>
            <a:r>
              <a:rPr lang="en-US" sz="1700" dirty="0">
                <a:solidFill>
                  <a:srgbClr val="243850"/>
                </a:solidFill>
                <a:latin typeface="FangSong_GB2312" pitchFamily="34" charset="0"/>
                <a:ea typeface="FangSong_GB2312" pitchFamily="34" charset="-122"/>
                <a:cs typeface="FangSong_GB2312" pitchFamily="34" charset="-120"/>
              </a:rPr>
              <a:t>的 </a:t>
            </a:r>
            <a:r>
              <a:rPr lang="en-US" sz="1700" dirty="0">
                <a:solidFill>
                  <a:srgbClr val="24385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SR </a:t>
            </a:r>
            <a:r>
              <a:rPr lang="en-US" sz="1700" dirty="0">
                <a:solidFill>
                  <a:srgbClr val="243850"/>
                </a:solidFill>
                <a:latin typeface="FangSong_GB2312" pitchFamily="34" charset="0"/>
                <a:ea typeface="FangSong_GB2312" pitchFamily="34" charset="-122"/>
                <a:cs typeface="FangSong_GB2312" pitchFamily="34" charset="-120"/>
              </a:rPr>
              <a:t>差值</a:t>
            </a:r>
            <a:endParaRPr lang="en-US" sz="1700" dirty="0"/>
          </a:p>
        </p:txBody>
      </p:sp>
      <p:sp>
        <p:nvSpPr>
          <p:cNvPr id="22" name="Text 18"/>
          <p:cNvSpPr/>
          <p:nvPr/>
        </p:nvSpPr>
        <p:spPr>
          <a:xfrm>
            <a:off x="6409944" y="5358384"/>
            <a:ext cx="28346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D57D3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+7.2 </a:t>
            </a:r>
            <a:r>
              <a:rPr lang="en-US" sz="2400" b="1" dirty="0">
                <a:solidFill>
                  <a:srgbClr val="D57D31"/>
                </a:solidFill>
                <a:latin typeface="FangSong_GB2312" pitchFamily="34" charset="0"/>
                <a:ea typeface="FangSong_GB2312" pitchFamily="34" charset="-122"/>
                <a:cs typeface="FangSong_GB2312" pitchFamily="34" charset="-120"/>
              </a:rPr>
              <a:t>个百分点</a:t>
            </a:r>
            <a:endParaRPr lang="en-US" sz="2400" dirty="0"/>
          </a:p>
        </p:txBody>
      </p:sp>
      <p:sp>
        <p:nvSpPr>
          <p:cNvPr id="23" name="Text 19"/>
          <p:cNvSpPr/>
          <p:nvPr/>
        </p:nvSpPr>
        <p:spPr>
          <a:xfrm>
            <a:off x="6409944" y="5833872"/>
            <a:ext cx="5202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dirty="0">
                <a:solidFill>
                  <a:srgbClr val="243850"/>
                </a:solidFill>
                <a:latin typeface="FangSong_GB2312" pitchFamily="34" charset="0"/>
                <a:ea typeface="FangSong_GB2312" pitchFamily="34" charset="-122"/>
                <a:cs typeface="FangSong_GB2312" pitchFamily="34" charset="-120"/>
              </a:rPr>
              <a:t>完整配置相对 </a:t>
            </a:r>
            <a:r>
              <a:rPr lang="en-US" sz="1700" dirty="0">
                <a:solidFill>
                  <a:srgbClr val="24385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Local only </a:t>
            </a:r>
            <a:r>
              <a:rPr lang="en-US" sz="1700" dirty="0">
                <a:solidFill>
                  <a:srgbClr val="243850"/>
                </a:solidFill>
                <a:latin typeface="FangSong_GB2312" pitchFamily="34" charset="0"/>
                <a:ea typeface="FangSong_GB2312" pitchFamily="34" charset="-122"/>
                <a:cs typeface="FangSong_GB2312" pitchFamily="34" charset="-120"/>
              </a:rPr>
              <a:t>的 </a:t>
            </a:r>
            <a:r>
              <a:rPr lang="en-US" sz="1700" dirty="0">
                <a:solidFill>
                  <a:srgbClr val="24385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SR </a:t>
            </a:r>
            <a:r>
              <a:rPr lang="en-US" sz="1700" dirty="0">
                <a:solidFill>
                  <a:srgbClr val="243850"/>
                </a:solidFill>
                <a:latin typeface="FangSong_GB2312" pitchFamily="34" charset="0"/>
                <a:ea typeface="FangSong_GB2312" pitchFamily="34" charset="-122"/>
                <a:cs typeface="FangSong_GB2312" pitchFamily="34" charset="-120"/>
              </a:rPr>
              <a:t>差值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FangSong_GB2312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FangSong_GB2312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PaperLoom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PaperLoom — 版式组件示例</dc:title>
  <dc:subject>Three editable layout components. All DemoNav methods and numbers are fictional.</dc:subject>
  <dc:creator>PaperLoom</dc:creator>
  <cp:lastModifiedBy>PaperLoom</cp:lastModifiedBy>
  <cp:revision>1</cp:revision>
  <dcterms:created xsi:type="dcterms:W3CDTF">2026-09-13T04:22:02Z</dcterms:created>
  <dcterms:modified xsi:type="dcterms:W3CDTF">2026-09-13T04:22:02Z</dcterms:modified>
</cp:coreProperties>
</file>